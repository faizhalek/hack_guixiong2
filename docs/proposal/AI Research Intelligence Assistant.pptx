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I'm going to show you an AI research assistant that lets customers ask questions across a company's research library and get answers they can verify. The key point up front: this isn't just a concept. What you see on the right is a screenshot of the working prototype, answering a real question from real reports, with the source page open and the evidence highlighted.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problem. The company has years of research, but it's published as PDFs. Finding something means opening reports one by one. Connecting information across reports or years, like how a view changed since 2022, means reading many documents. And building a full enterprise platform before we know customers value this would be a big bet. So the goal is to prove the value cheaply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it works for a user. They pick the libraries they're allowed to search, then ask in plain language. On the right is a real answer from the prototype. I asked what the BIS 2024 report says about how central banks can use AI. The answer is structured, and every sentence carries a citation chip, S1 to S4, pointing at specific pages of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 is the whole game here, so verification is one click. When I click citation S4, the actual PDF opens beside the answer at page 18 and highlights the exact sentence the claim relies on. Page references use the physical page in the file, not the printed number, because reports often use roman numerals or restart numbering. So the citation always lands on the right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uploaded PDFs are split page by page and indexed for both meaning and keywords. Each question goes through three agents. The Query Agent plans the search and splits comparison questions into sub-queries. The Answer Agent writes only from the retrieved pages and must cite every claim. The Evaluator Agent then checks each claim against its cited page. If something is unsupported, the answer is rewritten once, and if it still fails it's flagged as low confidence. The stack is all managed services: React, FastAPI on Vercel, Supabase and DeepSeek.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Restricting access to authorised users was a core requirement. Accounts are invitation-only, and an admin decides which libraries each user can search, as on the right. Crucially, this is enforced inside the database with row-level security, not just hidden in the interface. Even if someone names another library directly, search returns nothing. PDFs sit in a private bucket and are served through short-lived links. There are 24 automated tests proving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know the answers are good? Every live answer gets the evaluator's grounded score, and users can rate it; admins see this on an Insights dashboard. Offline, there's an evaluation runner for an expert-written test set, with targets like 90% citation accuracy. Early numbers: 530 pages indexed, the test answers were fully grounded, around 20 to 30 seconds per answer, and under 4 cents of model cost per question. To be transparent, testing also found a weakness: reference lists can crowd out body text in search. The assistant declined instead of guessing, which is the right behaviour, and the fix is planned for week one of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next? I'm proposing a four-week pilot with five to ten real customer users on one or two libraries. Week one fixes the retrieval issue and builds the test set. Week two is onboarding and a timed comparison against manual search. Week three is open use with weekly tuning. Week four is interviews and a go/no-go recommendation. Go means hitting these targets: at least 50% faster, 90% citation accuracy, 85% retrieval and 70% helpful ratings. The ask today is to approve that pilot. Thank you, happy to take questions or show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1"/>
            <a:ext cx="10566400" cy="410971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1"/>
            <a:ext cx="10566400" cy="410971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518920"/>
            <a:ext cx="418592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5B4FC"/>
                </a:solidFill>
                <a:latin typeface="IBM Plex Sans" pitchFamily="34" charset="0"/>
                <a:ea typeface="IBM Plex Sans" pitchFamily="34" charset="-122"/>
                <a:cs typeface="IBM Plex Sans" pitchFamily="34" charset="-120"/>
              </a:rPr>
              <a:t>CONCEPT PROPOSAL</a:t>
            </a:r>
            <a:endParaRPr lang="en-US" sz="1200" dirty="0"/>
          </a:p>
        </p:txBody>
      </p:sp>
      <p:sp>
        <p:nvSpPr>
          <p:cNvPr id="3" name="Text 1"/>
          <p:cNvSpPr/>
          <p:nvPr>
            <p:ph type="title"/>
          </p:nvPr>
        </p:nvSpPr>
        <p:spPr>
          <a:xfrm>
            <a:off x="812800" y="1935480"/>
            <a:ext cx="4185920" cy="1785620"/>
          </a:xfrm>
          <a:prstGeom prst="rect">
            <a:avLst/>
          </a:prstGeom>
          <a:noFill/>
          <a:ln/>
        </p:spPr>
        <p:txBody>
          <a:bodyPr wrap="square" lIns="0" tIns="0" rIns="0" bIns="0" rtlCol="0" anchor="t">
            <a:normAutofit/>
          </a:bodyPr>
          <a:lstStyle/>
          <a:p>
            <a:pPr algn="l" indent="0" marL="0">
              <a:lnSpc>
                <a:spcPts val="4620"/>
              </a:lnSpc>
              <a:buNone/>
            </a:pPr>
            <a:r>
              <a:rPr lang="en-US" sz="4400" b="1" i="0" dirty="0">
                <a:solidFill>
                  <a:srgbClr val="F7F6F2"/>
                </a:solidFill>
                <a:latin typeface="Source Serif 4" pitchFamily="18" charset="0"/>
                <a:ea typeface="Source Serif 4" pitchFamily="18" charset="-122"/>
                <a:cs typeface="Source Serif 4" pitchFamily="18" charset="-120"/>
              </a:rPr>
              <a:t>AI Research Intelligence Assistant</a:t>
            </a:r>
            <a:endParaRPr lang="en-US" sz="4400" dirty="0"/>
          </a:p>
        </p:txBody>
      </p:sp>
      <p:sp>
        <p:nvSpPr>
          <p:cNvPr id="4" name="Text 2"/>
          <p:cNvSpPr/>
          <p:nvPr/>
        </p:nvSpPr>
        <p:spPr>
          <a:xfrm>
            <a:off x="812800" y="3898900"/>
            <a:ext cx="4185920"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1E3"/>
                </a:solidFill>
                <a:latin typeface="IBM Plex Sans" pitchFamily="34" charset="0"/>
                <a:ea typeface="IBM Plex Sans" pitchFamily="34" charset="-122"/>
                <a:cs typeface="IBM Plex Sans" pitchFamily="34" charset="-120"/>
              </a:rPr>
              <a:t>Ask questions across a company's research library. Get answers grounded in the reports, cited to the exact page.</a:t>
            </a:r>
            <a:endParaRPr lang="en-US" sz="1600" dirty="0"/>
          </a:p>
        </p:txBody>
      </p:sp>
      <p:sp>
        <p:nvSpPr>
          <p:cNvPr id="5" name="Text 3"/>
          <p:cNvSpPr/>
          <p:nvPr/>
        </p:nvSpPr>
        <p:spPr>
          <a:xfrm>
            <a:off x="812800" y="4955540"/>
            <a:ext cx="3556000" cy="383540"/>
          </a:xfrm>
          <a:prstGeom prst="roundRect">
            <a:avLst>
              <a:gd name="adj" fmla="val 50000"/>
            </a:avLst>
          </a:prstGeom>
          <a:solidFill>
            <a:srgbClr val="86EFAC"/>
          </a:solidFill>
          <a:ln/>
        </p:spPr>
        <p:txBody>
          <a:bodyPr wrap="square" lIns="47464" tIns="20032" rIns="47464" bIns="0" rtlCol="0" anchor="t">
            <a:normAutofit/>
          </a:bodyPr>
          <a:lstStyle/>
          <a:p>
            <a:pPr algn="ct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Working prototype, running today</a:t>
            </a:r>
            <a:endParaRPr lang="en-US" sz="1300" dirty="0"/>
          </a:p>
        </p:txBody>
      </p:sp>
      <p:pic>
        <p:nvPicPr>
          <p:cNvPr id="6" name="Image 0" descr="The prototype answering a question, with the cited PDF page open and the evidence highlighted">    </p:cNvPr>
          <p:cNvPicPr>
            <a:picLocks noChangeAspect="1"/>
          </p:cNvPicPr>
          <p:nvPr/>
        </p:nvPicPr>
        <p:blipFill>
          <a:blip r:embed="rId1"/>
          <a:srcRect l="-218" r="-218" t="0" b="0"/>
          <a:stretch/>
        </p:blipFill>
        <p:spPr>
          <a:xfrm>
            <a:off x="5295900" y="1898650"/>
            <a:ext cx="6070600" cy="3060700"/>
          </a:xfrm>
          <a:prstGeom prst="roundRect">
            <a:avLst>
              <a:gd name="adj" fmla="val 2905"/>
            </a:avLst>
          </a:prstGeom>
          <a:effectLst>
            <a:outerShdw sx="100000" sy="100000" kx="0" ky="0" algn="bl" rotWithShape="0" blurRad="406400" dist="152400" dir="5400000">
              <a:srgbClr val="000000">
                <a:alpha val="35000"/>
              </a:srgbClr>
            </a:outerShdw>
          </a:effectLst>
        </p:spPr>
      </p:pic>
      <p:sp>
        <p:nvSpPr>
          <p:cNvPr id="7" name="Shape 4"/>
          <p:cNvSpPr/>
          <p:nvPr/>
        </p:nvSpPr>
        <p:spPr>
          <a:xfrm>
            <a:off x="5289550" y="1892300"/>
            <a:ext cx="6083300" cy="3073400"/>
          </a:xfrm>
          <a:prstGeom prst="roundRect">
            <a:avLst>
              <a:gd name="adj" fmla="val 3099"/>
            </a:avLst>
          </a:prstGeom>
          <a:noFill/>
          <a:ln w="12700">
            <a:solidFill>
              <a:srgbClr val="2C3A5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p:nvPr>
            <p:ph type="title"/>
          </p:nvPr>
        </p:nvSpPr>
        <p:spPr>
          <a:xfrm>
            <a:off x="812800" y="1127760"/>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The research is valuable, but it's locked inside PDFs</a:t>
            </a:r>
            <a:endParaRPr lang="en-US" sz="3600" dirty="0"/>
          </a:p>
        </p:txBody>
      </p:sp>
      <p:sp>
        <p:nvSpPr>
          <p:cNvPr id="4" name="Shape 2"/>
          <p:cNvSpPr/>
          <p:nvPr/>
        </p:nvSpPr>
        <p:spPr>
          <a:xfrm>
            <a:off x="815975" y="2492375"/>
            <a:ext cx="3380317" cy="1842770"/>
          </a:xfrm>
          <a:prstGeom prst="roundRect">
            <a:avLst>
              <a:gd name="adj" fmla="val 5341"/>
            </a:avLst>
          </a:prstGeom>
          <a:solidFill>
            <a:srgbClr val="FFFFFF"/>
          </a:solidFill>
          <a:ln w="6350">
            <a:solidFill>
              <a:srgbClr val="E2E4EA"/>
            </a:solidFill>
            <a:prstDash val="solid"/>
          </a:ln>
        </p:spPr>
      </p:sp>
      <p:pic>
        <p:nvPicPr>
          <p:cNvPr id="5" name="Image 0" descr="Search">    </p:cNvPr>
          <p:cNvPicPr>
            <a:picLocks noChangeAspect="1"/>
          </p:cNvPicPr>
          <p:nvPr/>
        </p:nvPicPr>
        <p:blipFill>
          <a:blip r:embed="rId1"/>
          <a:srcRect l="0" r="0" t="0" b="0"/>
          <a:stretch/>
        </p:blipFill>
        <p:spPr>
          <a:xfrm>
            <a:off x="1071880" y="2748280"/>
            <a:ext cx="355600" cy="355600"/>
          </a:xfrm>
          <a:prstGeom prst="rect">
            <a:avLst/>
          </a:prstGeom>
        </p:spPr>
      </p:pic>
      <p:sp>
        <p:nvSpPr>
          <p:cNvPr id="6" name="Text 3"/>
          <p:cNvSpPr/>
          <p:nvPr/>
        </p:nvSpPr>
        <p:spPr>
          <a:xfrm>
            <a:off x="1071880" y="3205480"/>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Slow to find</a:t>
            </a:r>
            <a:endParaRPr lang="en-US" sz="1800" dirty="0"/>
          </a:p>
        </p:txBody>
      </p:sp>
      <p:sp>
        <p:nvSpPr>
          <p:cNvPr id="7" name="Text 4"/>
          <p:cNvSpPr/>
          <p:nvPr/>
        </p:nvSpPr>
        <p:spPr>
          <a:xfrm>
            <a:off x="1071880" y="3581400"/>
            <a:ext cx="295456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Users open reports one by one and search inside each.</a:t>
            </a:r>
            <a:endParaRPr lang="en-US" sz="1400" dirty="0"/>
          </a:p>
        </p:txBody>
      </p:sp>
      <p:sp>
        <p:nvSpPr>
          <p:cNvPr id="8" name="Shape 5"/>
          <p:cNvSpPr/>
          <p:nvPr/>
        </p:nvSpPr>
        <p:spPr>
          <a:xfrm>
            <a:off x="4405842" y="2492375"/>
            <a:ext cx="3380317" cy="1842770"/>
          </a:xfrm>
          <a:prstGeom prst="roundRect">
            <a:avLst>
              <a:gd name="adj" fmla="val 5341"/>
            </a:avLst>
          </a:prstGeom>
          <a:solidFill>
            <a:srgbClr val="FFFFFF"/>
          </a:solidFill>
          <a:ln w="6350">
            <a:solidFill>
              <a:srgbClr val="E2E4EA"/>
            </a:solidFill>
            <a:prstDash val="solid"/>
          </a:ln>
        </p:spPr>
      </p:sp>
      <p:pic>
        <p:nvPicPr>
          <p:cNvPr id="9" name="Image 1" descr="Link">    </p:cNvPr>
          <p:cNvPicPr>
            <a:picLocks noChangeAspect="1"/>
          </p:cNvPicPr>
          <p:nvPr/>
        </p:nvPicPr>
        <p:blipFill>
          <a:blip r:embed="rId2"/>
          <a:srcRect l="0" r="0" t="0" b="0"/>
          <a:stretch/>
        </p:blipFill>
        <p:spPr>
          <a:xfrm>
            <a:off x="4661746" y="2748280"/>
            <a:ext cx="355600" cy="355600"/>
          </a:xfrm>
          <a:prstGeom prst="rect">
            <a:avLst/>
          </a:prstGeom>
        </p:spPr>
      </p:pic>
      <p:sp>
        <p:nvSpPr>
          <p:cNvPr id="10" name="Text 6"/>
          <p:cNvSpPr/>
          <p:nvPr/>
        </p:nvSpPr>
        <p:spPr>
          <a:xfrm>
            <a:off x="4661746" y="3205480"/>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Hard to connect</a:t>
            </a:r>
            <a:endParaRPr lang="en-US" sz="1800" dirty="0"/>
          </a:p>
        </p:txBody>
      </p:sp>
      <p:sp>
        <p:nvSpPr>
          <p:cNvPr id="11" name="Text 7"/>
          <p:cNvSpPr/>
          <p:nvPr/>
        </p:nvSpPr>
        <p:spPr>
          <a:xfrm>
            <a:off x="4661746" y="3581400"/>
            <a:ext cx="295456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Questions across reports and years mean reading many documents.</a:t>
            </a:r>
            <a:endParaRPr lang="en-US" sz="1400" dirty="0"/>
          </a:p>
        </p:txBody>
      </p:sp>
      <p:sp>
        <p:nvSpPr>
          <p:cNvPr id="12" name="Shape 8"/>
          <p:cNvSpPr/>
          <p:nvPr/>
        </p:nvSpPr>
        <p:spPr>
          <a:xfrm>
            <a:off x="7995708" y="2492375"/>
            <a:ext cx="3380317" cy="1842770"/>
          </a:xfrm>
          <a:prstGeom prst="roundRect">
            <a:avLst>
              <a:gd name="adj" fmla="val 5341"/>
            </a:avLst>
          </a:prstGeom>
          <a:solidFill>
            <a:srgbClr val="FFFFFF"/>
          </a:solidFill>
          <a:ln w="6350">
            <a:solidFill>
              <a:srgbClr val="E2E4EA"/>
            </a:solidFill>
            <a:prstDash val="solid"/>
          </a:ln>
        </p:spPr>
      </p:sp>
      <p:pic>
        <p:nvPicPr>
          <p:cNvPr id="13" name="Image 2" descr="Warning">    </p:cNvPr>
          <p:cNvPicPr>
            <a:picLocks noChangeAspect="1"/>
          </p:cNvPicPr>
          <p:nvPr/>
        </p:nvPicPr>
        <p:blipFill>
          <a:blip r:embed="rId3"/>
          <a:srcRect l="0" r="0" t="0" b="0"/>
          <a:stretch/>
        </p:blipFill>
        <p:spPr>
          <a:xfrm>
            <a:off x="8251613" y="2748280"/>
            <a:ext cx="355600" cy="355600"/>
          </a:xfrm>
          <a:prstGeom prst="rect">
            <a:avLst/>
          </a:prstGeom>
        </p:spPr>
      </p:pic>
      <p:sp>
        <p:nvSpPr>
          <p:cNvPr id="14" name="Text 9"/>
          <p:cNvSpPr/>
          <p:nvPr/>
        </p:nvSpPr>
        <p:spPr>
          <a:xfrm>
            <a:off x="8251613" y="3205480"/>
            <a:ext cx="295456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Costly to commit</a:t>
            </a:r>
            <a:endParaRPr lang="en-US" sz="1800" dirty="0"/>
          </a:p>
        </p:txBody>
      </p:sp>
      <p:sp>
        <p:nvSpPr>
          <p:cNvPr id="15" name="Text 10"/>
          <p:cNvSpPr/>
          <p:nvPr/>
        </p:nvSpPr>
        <p:spPr>
          <a:xfrm>
            <a:off x="8251613" y="3581400"/>
            <a:ext cx="295456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 full enterprise platform is a big bet before value is proven.</a:t>
            </a:r>
            <a:endParaRPr lang="en-US" sz="1400" dirty="0"/>
          </a:p>
        </p:txBody>
      </p:sp>
      <p:sp>
        <p:nvSpPr>
          <p:cNvPr id="16" name="Shape 11"/>
          <p:cNvSpPr/>
          <p:nvPr/>
        </p:nvSpPr>
        <p:spPr>
          <a:xfrm>
            <a:off x="831850" y="4693920"/>
            <a:ext cx="0" cy="670560"/>
          </a:xfrm>
          <a:prstGeom prst="line">
            <a:avLst/>
          </a:prstGeom>
          <a:noFill/>
          <a:ln w="38100">
            <a:solidFill>
              <a:srgbClr val="4F46E5"/>
            </a:solidFill>
            <a:prstDash val="solid"/>
          </a:ln>
        </p:spPr>
      </p:sp>
      <p:sp>
        <p:nvSpPr>
          <p:cNvPr id="17" name="Text 12"/>
          <p:cNvSpPr/>
          <p:nvPr/>
        </p:nvSpPr>
        <p:spPr>
          <a:xfrm>
            <a:off x="1026160" y="4744720"/>
            <a:ext cx="10663631"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Goal:</a:t>
            </a:r>
            <a:r>
              <a:rPr lang="en-US" sz="1600" dirty="0">
                <a:solidFill>
                  <a:srgbClr val="14213D"/>
                </a:solidFill>
                <a:latin typeface="IBM Plex Sans" pitchFamily="34" charset="0"/>
                <a:ea typeface="IBM Plex Sans" pitchFamily="34" charset="-122"/>
                <a:cs typeface="IBM Plex Sans" pitchFamily="34" charset="-120"/>
              </a:rPr>
              <a:t> prove that customers get faster, trustworthy answers from the research they already have, before a larger investment.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0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IBM Plex Sans" pitchFamily="34" charset="0"/>
                <a:ea typeface="IBM Plex Sans" pitchFamily="34" charset="-122"/>
                <a:cs typeface="IBM Plex Sans" pitchFamily="34" charset="-120"/>
              </a:rPr>
              <a:t>THE SOLUTION</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Ask the library, get a cited answer</a:t>
            </a:r>
            <a:endParaRPr lang="en-US" sz="3600" dirty="0"/>
          </a:p>
        </p:txBody>
      </p:sp>
      <p:sp>
        <p:nvSpPr>
          <p:cNvPr id="4" name="Shape 2"/>
          <p:cNvSpPr/>
          <p:nvPr/>
        </p:nvSpPr>
        <p:spPr>
          <a:xfrm>
            <a:off x="812800" y="1935480"/>
            <a:ext cx="3175000" cy="1099820"/>
          </a:xfrm>
          <a:prstGeom prst="roundRect">
            <a:avLst>
              <a:gd name="adj" fmla="val 9238"/>
            </a:avLst>
          </a:prstGeom>
          <a:solidFill>
            <a:srgbClr val="FFFFFF"/>
          </a:solidFill>
          <a:ln/>
        </p:spPr>
      </p:sp>
      <p:sp>
        <p:nvSpPr>
          <p:cNvPr id="5" name="Text 3"/>
          <p:cNvSpPr/>
          <p:nvPr/>
        </p:nvSpPr>
        <p:spPr>
          <a:xfrm>
            <a:off x="1016000" y="2113280"/>
            <a:ext cx="285165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46E5"/>
                </a:solidFill>
                <a:latin typeface="IBM Plex Sans" pitchFamily="34" charset="0"/>
                <a:ea typeface="IBM Plex Sans" pitchFamily="34" charset="-122"/>
                <a:cs typeface="IBM Plex Sans" pitchFamily="34" charset="-120"/>
              </a:rPr>
              <a:t>1 · Choose libraries</a:t>
            </a:r>
            <a:endParaRPr lang="en-US" sz="1200" dirty="0"/>
          </a:p>
        </p:txBody>
      </p:sp>
      <p:sp>
        <p:nvSpPr>
          <p:cNvPr id="6" name="Text 4"/>
          <p:cNvSpPr/>
          <p:nvPr/>
        </p:nvSpPr>
        <p:spPr>
          <a:xfrm>
            <a:off x="1016000" y="2377439"/>
            <a:ext cx="2851658"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One company's research or several.</a:t>
            </a:r>
            <a:endParaRPr lang="en-US" sz="1400" dirty="0"/>
          </a:p>
        </p:txBody>
      </p:sp>
      <p:sp>
        <p:nvSpPr>
          <p:cNvPr id="7" name="Shape 5"/>
          <p:cNvSpPr/>
          <p:nvPr/>
        </p:nvSpPr>
        <p:spPr>
          <a:xfrm>
            <a:off x="812800" y="3213100"/>
            <a:ext cx="3175000" cy="1099820"/>
          </a:xfrm>
          <a:prstGeom prst="roundRect">
            <a:avLst>
              <a:gd name="adj" fmla="val 9238"/>
            </a:avLst>
          </a:prstGeom>
          <a:solidFill>
            <a:srgbClr val="FFFFFF"/>
          </a:solidFill>
          <a:ln/>
        </p:spPr>
      </p:sp>
      <p:sp>
        <p:nvSpPr>
          <p:cNvPr id="8" name="Text 6"/>
          <p:cNvSpPr/>
          <p:nvPr/>
        </p:nvSpPr>
        <p:spPr>
          <a:xfrm>
            <a:off x="1016000" y="3390900"/>
            <a:ext cx="285165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46E5"/>
                </a:solidFill>
                <a:latin typeface="IBM Plex Sans" pitchFamily="34" charset="0"/>
                <a:ea typeface="IBM Plex Sans" pitchFamily="34" charset="-122"/>
                <a:cs typeface="IBM Plex Sans" pitchFamily="34" charset="-120"/>
              </a:rPr>
              <a:t>2 · Ask in plain language</a:t>
            </a:r>
            <a:endParaRPr lang="en-US" sz="1200" dirty="0"/>
          </a:p>
        </p:txBody>
      </p:sp>
      <p:sp>
        <p:nvSpPr>
          <p:cNvPr id="9" name="Text 7"/>
          <p:cNvSpPr/>
          <p:nvPr/>
        </p:nvSpPr>
        <p:spPr>
          <a:xfrm>
            <a:off x="1016000" y="3655061"/>
            <a:ext cx="2851658"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The answer streams in, citing every claim.</a:t>
            </a:r>
            <a:endParaRPr lang="en-US" sz="1400" dirty="0"/>
          </a:p>
        </p:txBody>
      </p:sp>
      <p:sp>
        <p:nvSpPr>
          <p:cNvPr id="10" name="Shape 8"/>
          <p:cNvSpPr/>
          <p:nvPr/>
        </p:nvSpPr>
        <p:spPr>
          <a:xfrm>
            <a:off x="812800" y="4490720"/>
            <a:ext cx="3175000" cy="1099820"/>
          </a:xfrm>
          <a:prstGeom prst="roundRect">
            <a:avLst>
              <a:gd name="adj" fmla="val 9238"/>
            </a:avLst>
          </a:prstGeom>
          <a:solidFill>
            <a:srgbClr val="FFFFFF"/>
          </a:solidFill>
          <a:ln/>
        </p:spPr>
      </p:sp>
      <p:sp>
        <p:nvSpPr>
          <p:cNvPr id="11" name="Text 9"/>
          <p:cNvSpPr/>
          <p:nvPr/>
        </p:nvSpPr>
        <p:spPr>
          <a:xfrm>
            <a:off x="1016000" y="4668520"/>
            <a:ext cx="285165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46E5"/>
                </a:solidFill>
                <a:latin typeface="IBM Plex Sans" pitchFamily="34" charset="0"/>
                <a:ea typeface="IBM Plex Sans" pitchFamily="34" charset="-122"/>
                <a:cs typeface="IBM Plex Sans" pitchFamily="34" charset="-120"/>
              </a:rPr>
              <a:t>3 · Verify in one click</a:t>
            </a:r>
            <a:endParaRPr lang="en-US" sz="1200" dirty="0"/>
          </a:p>
        </p:txBody>
      </p:sp>
      <p:sp>
        <p:nvSpPr>
          <p:cNvPr id="12" name="Text 10"/>
          <p:cNvSpPr/>
          <p:nvPr/>
        </p:nvSpPr>
        <p:spPr>
          <a:xfrm>
            <a:off x="1016000" y="4932680"/>
            <a:ext cx="2851658"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Each citation opens the exact page.</a:t>
            </a:r>
            <a:endParaRPr lang="en-US" sz="1400" dirty="0"/>
          </a:p>
        </p:txBody>
      </p:sp>
      <p:sp>
        <p:nvSpPr>
          <p:cNvPr id="13" name="Shape 11"/>
          <p:cNvSpPr/>
          <p:nvPr/>
        </p:nvSpPr>
        <p:spPr>
          <a:xfrm>
            <a:off x="4343400" y="1935480"/>
            <a:ext cx="7035800" cy="3562350"/>
          </a:xfrm>
          <a:prstGeom prst="roundRect">
            <a:avLst>
              <a:gd name="adj" fmla="val 2852"/>
            </a:avLst>
          </a:prstGeom>
          <a:solidFill>
            <a:srgbClr val="FFFFFF"/>
          </a:solidFill>
          <a:ln/>
          <a:effectLst>
            <a:outerShdw sx="100000" sy="100000" kx="0" ky="0" algn="bl" rotWithShape="0" blurRad="254000" dist="101600" dir="5400000">
              <a:srgbClr val="14213D">
                <a:alpha val="12000"/>
              </a:srgbClr>
            </a:outerShdw>
          </a:effectLst>
        </p:spPr>
      </p:sp>
      <p:pic>
        <p:nvPicPr>
          <p:cNvPr id="14" name="Image 0" descr="Prototype answer to a question about how central banks can use AI, citing four pages of the BIS 2024 report">    </p:cNvPr>
          <p:cNvPicPr>
            <a:picLocks noChangeAspect="1"/>
          </p:cNvPicPr>
          <p:nvPr/>
        </p:nvPicPr>
        <p:blipFill>
          <a:blip r:embed="rId1"/>
          <a:srcRect l="-94" r="-94" t="0" b="0"/>
          <a:stretch/>
        </p:blipFill>
        <p:spPr>
          <a:xfrm>
            <a:off x="4349750" y="1941830"/>
            <a:ext cx="7023100" cy="3549650"/>
          </a:xfrm>
          <a:prstGeom prst="roundRect">
            <a:avLst>
              <a:gd name="adj" fmla="val 2683"/>
            </a:avLst>
          </a:prstGeom>
        </p:spPr>
      </p:pic>
      <p:sp>
        <p:nvSpPr>
          <p:cNvPr id="15" name="Shape 12"/>
          <p:cNvSpPr/>
          <p:nvPr/>
        </p:nvSpPr>
        <p:spPr>
          <a:xfrm>
            <a:off x="4346575" y="1938655"/>
            <a:ext cx="7029450" cy="3556000"/>
          </a:xfrm>
          <a:prstGeom prst="roundRect">
            <a:avLst>
              <a:gd name="adj" fmla="val 2768"/>
            </a:avLst>
          </a:prstGeom>
          <a:noFill/>
          <a:ln w="6350">
            <a:solidFill>
              <a:srgbClr val="D5D9E3"/>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2402343" y="609600"/>
            <a:ext cx="7387209" cy="528320"/>
          </a:xfrm>
          <a:prstGeom prst="rect">
            <a:avLst/>
          </a:prstGeom>
          <a:noFill/>
          <a:ln/>
        </p:spPr>
        <p:txBody>
          <a:bodyPr wrap="square" lIns="0" tIns="0" rIns="0" bIns="0" rtlCol="0" anchor="t">
            <a:normAutofit/>
          </a:bodyPr>
          <a:lstStyle/>
          <a:p>
            <a:pPr algn="ctr" indent="0" marL="0">
              <a:lnSpc>
                <a:spcPts val="3960"/>
              </a:lnSpc>
              <a:buNone/>
            </a:pPr>
            <a:r>
              <a:rPr lang="en-US" sz="3600" b="1" i="0" dirty="0">
                <a:solidFill>
                  <a:srgbClr val="F7F6F2"/>
                </a:solidFill>
                <a:latin typeface="Source Serif 4" pitchFamily="18" charset="0"/>
                <a:ea typeface="Source Serif 4" pitchFamily="18" charset="-122"/>
                <a:cs typeface="Source Serif 4" pitchFamily="18" charset="-120"/>
              </a:rPr>
              <a:t>Every claim links to its page</a:t>
            </a:r>
            <a:endParaRPr lang="en-US" sz="3600" dirty="0"/>
          </a:p>
        </p:txBody>
      </p:sp>
      <p:pic>
        <p:nvPicPr>
          <p:cNvPr id="3" name="Image 0" descr="Citation S4 opened in the PDF viewer at page 18 of 150, with the supporting sentence highlighted in yellow">    </p:cNvPr>
          <p:cNvPicPr>
            <a:picLocks noChangeAspect="1"/>
          </p:cNvPicPr>
          <p:nvPr/>
        </p:nvPicPr>
        <p:blipFill>
          <a:blip r:embed="rId1"/>
          <a:srcRect l="-113" r="-113" t="0" b="0"/>
          <a:stretch/>
        </p:blipFill>
        <p:spPr>
          <a:xfrm>
            <a:off x="1854200" y="1328420"/>
            <a:ext cx="8483600" cy="4286250"/>
          </a:xfrm>
          <a:prstGeom prst="roundRect">
            <a:avLst>
              <a:gd name="adj" fmla="val 2074"/>
            </a:avLst>
          </a:prstGeom>
        </p:spPr>
      </p:pic>
      <p:sp>
        <p:nvSpPr>
          <p:cNvPr id="4" name="Shape 1"/>
          <p:cNvSpPr/>
          <p:nvPr/>
        </p:nvSpPr>
        <p:spPr>
          <a:xfrm>
            <a:off x="1847850" y="1322070"/>
            <a:ext cx="8496300" cy="4298950"/>
          </a:xfrm>
          <a:prstGeom prst="roundRect">
            <a:avLst>
              <a:gd name="adj" fmla="val 2216"/>
            </a:avLst>
          </a:prstGeom>
          <a:noFill/>
          <a:ln w="12700">
            <a:solidFill>
              <a:srgbClr val="2C3A5A"/>
            </a:solidFill>
            <a:prstDash val="solid"/>
          </a:ln>
        </p:spPr>
      </p:sp>
      <p:sp>
        <p:nvSpPr>
          <p:cNvPr id="5" name="Text 2"/>
          <p:cNvSpPr/>
          <p:nvPr/>
        </p:nvSpPr>
        <p:spPr>
          <a:xfrm>
            <a:off x="1657995" y="5830571"/>
            <a:ext cx="8875903" cy="27432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C9D1E3"/>
                </a:solidFill>
                <a:latin typeface="IBM Plex Sans" pitchFamily="34" charset="0"/>
                <a:ea typeface="IBM Plex Sans" pitchFamily="34" charset="-122"/>
                <a:cs typeface="IBM Plex Sans" pitchFamily="34" charset="-120"/>
              </a:rPr>
              <a:t>Clicking citation S4 opens the BIS 2024 report at page 18 of 150 and highlights the evidence.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IBM Plex Sans" pitchFamily="34" charset="0"/>
                <a:ea typeface="IBM Plex Sans" pitchFamily="34" charset="-122"/>
                <a:cs typeface="IBM Plex Sans" pitchFamily="34" charset="-120"/>
              </a:rPr>
              <a:t>HOW IT WORKS</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Three agents, and every answer is checked</a:t>
            </a:r>
            <a:endParaRPr lang="en-US" sz="3600" dirty="0"/>
          </a:p>
        </p:txBody>
      </p:sp>
      <p:sp>
        <p:nvSpPr>
          <p:cNvPr id="4" name="Shape 2"/>
          <p:cNvSpPr/>
          <p:nvPr/>
        </p:nvSpPr>
        <p:spPr>
          <a:xfrm>
            <a:off x="812800" y="1935479"/>
            <a:ext cx="1727200" cy="802640"/>
          </a:xfrm>
          <a:prstGeom prst="roundRect">
            <a:avLst>
              <a:gd name="adj" fmla="val 12658"/>
            </a:avLst>
          </a:prstGeom>
          <a:solidFill>
            <a:srgbClr val="E0E7FF"/>
          </a:solidFill>
          <a:ln/>
        </p:spPr>
      </p:sp>
      <p:sp>
        <p:nvSpPr>
          <p:cNvPr id="5" name="Text 3"/>
          <p:cNvSpPr/>
          <p:nvPr/>
        </p:nvSpPr>
        <p:spPr>
          <a:xfrm>
            <a:off x="965200" y="2087879"/>
            <a:ext cx="14732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Question</a:t>
            </a:r>
            <a:endParaRPr lang="en-US" sz="1400" dirty="0"/>
          </a:p>
        </p:txBody>
      </p:sp>
      <p:sp>
        <p:nvSpPr>
          <p:cNvPr id="6" name="Text 4"/>
          <p:cNvSpPr/>
          <p:nvPr/>
        </p:nvSpPr>
        <p:spPr>
          <a:xfrm>
            <a:off x="965200" y="2387600"/>
            <a:ext cx="157480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B4A6B"/>
                </a:solidFill>
                <a:latin typeface="IBM Plex Sans" pitchFamily="34" charset="0"/>
                <a:ea typeface="IBM Plex Sans" pitchFamily="34" charset="-122"/>
                <a:cs typeface="IBM Plex Sans" pitchFamily="34" charset="-120"/>
              </a:rPr>
              <a:t>plus chosen libraries</a:t>
            </a:r>
            <a:endParaRPr lang="en-US" sz="1200" dirty="0"/>
          </a:p>
        </p:txBody>
      </p:sp>
      <p:pic>
        <p:nvPicPr>
          <p:cNvPr id="7" name="Image 0" descr="arrow-right">    </p:cNvPr>
          <p:cNvPicPr>
            <a:picLocks noChangeAspect="1"/>
          </p:cNvPicPr>
          <p:nvPr/>
        </p:nvPicPr>
        <p:blipFill>
          <a:blip r:embed="rId1"/>
          <a:srcRect l="0" r="0" t="0" b="0"/>
          <a:stretch/>
        </p:blipFill>
        <p:spPr>
          <a:xfrm>
            <a:off x="2641600" y="2260600"/>
            <a:ext cx="279400" cy="152400"/>
          </a:xfrm>
          <a:prstGeom prst="rect">
            <a:avLst/>
          </a:prstGeom>
        </p:spPr>
      </p:pic>
      <p:sp>
        <p:nvSpPr>
          <p:cNvPr id="8" name="Shape 5"/>
          <p:cNvSpPr/>
          <p:nvPr/>
        </p:nvSpPr>
        <p:spPr>
          <a:xfrm>
            <a:off x="3022600" y="1935479"/>
            <a:ext cx="1727200" cy="802640"/>
          </a:xfrm>
          <a:prstGeom prst="roundRect">
            <a:avLst>
              <a:gd name="adj" fmla="val 12658"/>
            </a:avLst>
          </a:prstGeom>
          <a:solidFill>
            <a:srgbClr val="FEF3C7"/>
          </a:solidFill>
          <a:ln/>
        </p:spPr>
      </p:sp>
      <p:sp>
        <p:nvSpPr>
          <p:cNvPr id="9" name="Text 6"/>
          <p:cNvSpPr/>
          <p:nvPr/>
        </p:nvSpPr>
        <p:spPr>
          <a:xfrm>
            <a:off x="3175000" y="2087879"/>
            <a:ext cx="14732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Query Agent</a:t>
            </a:r>
            <a:endParaRPr lang="en-US" sz="1400" dirty="0"/>
          </a:p>
        </p:txBody>
      </p:sp>
      <p:sp>
        <p:nvSpPr>
          <p:cNvPr id="10" name="Text 7"/>
          <p:cNvSpPr/>
          <p:nvPr/>
        </p:nvSpPr>
        <p:spPr>
          <a:xfrm>
            <a:off x="3175000" y="2387600"/>
            <a:ext cx="147320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4A1E"/>
                </a:solidFill>
                <a:latin typeface="IBM Plex Sans" pitchFamily="34" charset="0"/>
                <a:ea typeface="IBM Plex Sans" pitchFamily="34" charset="-122"/>
                <a:cs typeface="IBM Plex Sans" pitchFamily="34" charset="-120"/>
              </a:rPr>
              <a:t>plans the search</a:t>
            </a:r>
            <a:endParaRPr lang="en-US" sz="1200" dirty="0"/>
          </a:p>
        </p:txBody>
      </p:sp>
      <p:pic>
        <p:nvPicPr>
          <p:cNvPr id="11" name="Image 1" descr="arrow-right">    </p:cNvPr>
          <p:cNvPicPr>
            <a:picLocks noChangeAspect="1"/>
          </p:cNvPicPr>
          <p:nvPr/>
        </p:nvPicPr>
        <p:blipFill>
          <a:blip r:embed="rId2"/>
          <a:srcRect l="0" r="0" t="0" b="0"/>
          <a:stretch/>
        </p:blipFill>
        <p:spPr>
          <a:xfrm>
            <a:off x="4851400" y="2260600"/>
            <a:ext cx="279400" cy="152400"/>
          </a:xfrm>
          <a:prstGeom prst="rect">
            <a:avLst/>
          </a:prstGeom>
        </p:spPr>
      </p:pic>
      <p:sp>
        <p:nvSpPr>
          <p:cNvPr id="12" name="Shape 8"/>
          <p:cNvSpPr/>
          <p:nvPr/>
        </p:nvSpPr>
        <p:spPr>
          <a:xfrm>
            <a:off x="5232400" y="1935479"/>
            <a:ext cx="1727200" cy="802640"/>
          </a:xfrm>
          <a:prstGeom prst="roundRect">
            <a:avLst>
              <a:gd name="adj" fmla="val 12658"/>
            </a:avLst>
          </a:prstGeom>
          <a:solidFill>
            <a:srgbClr val="DCFCE7"/>
          </a:solidFill>
          <a:ln/>
        </p:spPr>
      </p:sp>
      <p:sp>
        <p:nvSpPr>
          <p:cNvPr id="13" name="Text 9"/>
          <p:cNvSpPr/>
          <p:nvPr/>
        </p:nvSpPr>
        <p:spPr>
          <a:xfrm>
            <a:off x="5384800" y="2087879"/>
            <a:ext cx="14732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Hybrid search</a:t>
            </a:r>
            <a:endParaRPr lang="en-US" sz="1400" dirty="0"/>
          </a:p>
        </p:txBody>
      </p:sp>
      <p:sp>
        <p:nvSpPr>
          <p:cNvPr id="14" name="Text 10"/>
          <p:cNvSpPr/>
          <p:nvPr/>
        </p:nvSpPr>
        <p:spPr>
          <a:xfrm>
            <a:off x="5384800" y="2387600"/>
            <a:ext cx="157480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F4D32"/>
                </a:solidFill>
                <a:latin typeface="IBM Plex Sans" pitchFamily="34" charset="0"/>
                <a:ea typeface="IBM Plex Sans" pitchFamily="34" charset="-122"/>
                <a:cs typeface="IBM Plex Sans" pitchFamily="34" charset="-120"/>
              </a:rPr>
              <a:t>meaning + keywords</a:t>
            </a:r>
            <a:endParaRPr lang="en-US" sz="1200" dirty="0"/>
          </a:p>
        </p:txBody>
      </p:sp>
      <p:pic>
        <p:nvPicPr>
          <p:cNvPr id="15" name="Image 2" descr="arrow-right">    </p:cNvPr>
          <p:cNvPicPr>
            <a:picLocks noChangeAspect="1"/>
          </p:cNvPicPr>
          <p:nvPr/>
        </p:nvPicPr>
        <p:blipFill>
          <a:blip r:embed="rId3"/>
          <a:srcRect l="0" r="0" t="0" b="0"/>
          <a:stretch/>
        </p:blipFill>
        <p:spPr>
          <a:xfrm>
            <a:off x="7061200" y="2260600"/>
            <a:ext cx="279400" cy="152400"/>
          </a:xfrm>
          <a:prstGeom prst="rect">
            <a:avLst/>
          </a:prstGeom>
        </p:spPr>
      </p:pic>
      <p:sp>
        <p:nvSpPr>
          <p:cNvPr id="16" name="Shape 11"/>
          <p:cNvSpPr/>
          <p:nvPr/>
        </p:nvSpPr>
        <p:spPr>
          <a:xfrm>
            <a:off x="7442200" y="1935479"/>
            <a:ext cx="1727200" cy="802640"/>
          </a:xfrm>
          <a:prstGeom prst="roundRect">
            <a:avLst>
              <a:gd name="adj" fmla="val 12658"/>
            </a:avLst>
          </a:prstGeom>
          <a:solidFill>
            <a:srgbClr val="FEF3C7"/>
          </a:solidFill>
          <a:ln/>
        </p:spPr>
      </p:sp>
      <p:sp>
        <p:nvSpPr>
          <p:cNvPr id="17" name="Text 12"/>
          <p:cNvSpPr/>
          <p:nvPr/>
        </p:nvSpPr>
        <p:spPr>
          <a:xfrm>
            <a:off x="7594600" y="2087879"/>
            <a:ext cx="14732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Answer Agent</a:t>
            </a:r>
            <a:endParaRPr lang="en-US" sz="1400" dirty="0"/>
          </a:p>
        </p:txBody>
      </p:sp>
      <p:sp>
        <p:nvSpPr>
          <p:cNvPr id="18" name="Text 13"/>
          <p:cNvSpPr/>
          <p:nvPr/>
        </p:nvSpPr>
        <p:spPr>
          <a:xfrm>
            <a:off x="7594600" y="2387600"/>
            <a:ext cx="147320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4A1E"/>
                </a:solidFill>
                <a:latin typeface="IBM Plex Sans" pitchFamily="34" charset="0"/>
                <a:ea typeface="IBM Plex Sans" pitchFamily="34" charset="-122"/>
                <a:cs typeface="IBM Plex Sans" pitchFamily="34" charset="-120"/>
              </a:rPr>
              <a:t>cites every claim</a:t>
            </a:r>
            <a:endParaRPr lang="en-US" sz="1200" dirty="0"/>
          </a:p>
        </p:txBody>
      </p:sp>
      <p:pic>
        <p:nvPicPr>
          <p:cNvPr id="19" name="Image 3" descr="arrow-right">    </p:cNvPr>
          <p:cNvPicPr>
            <a:picLocks noChangeAspect="1"/>
          </p:cNvPicPr>
          <p:nvPr/>
        </p:nvPicPr>
        <p:blipFill>
          <a:blip r:embed="rId4"/>
          <a:srcRect l="0" r="0" t="0" b="0"/>
          <a:stretch/>
        </p:blipFill>
        <p:spPr>
          <a:xfrm>
            <a:off x="9271000" y="2260600"/>
            <a:ext cx="279400" cy="152400"/>
          </a:xfrm>
          <a:prstGeom prst="rect">
            <a:avLst/>
          </a:prstGeom>
        </p:spPr>
      </p:pic>
      <p:sp>
        <p:nvSpPr>
          <p:cNvPr id="20" name="Shape 14"/>
          <p:cNvSpPr/>
          <p:nvPr/>
        </p:nvSpPr>
        <p:spPr>
          <a:xfrm>
            <a:off x="9652000" y="1935479"/>
            <a:ext cx="1727200" cy="802640"/>
          </a:xfrm>
          <a:prstGeom prst="roundRect">
            <a:avLst>
              <a:gd name="adj" fmla="val 12658"/>
            </a:avLst>
          </a:prstGeom>
          <a:solidFill>
            <a:srgbClr val="FEF3C7"/>
          </a:solidFill>
          <a:ln/>
        </p:spPr>
      </p:sp>
      <p:sp>
        <p:nvSpPr>
          <p:cNvPr id="21" name="Text 15"/>
          <p:cNvSpPr/>
          <p:nvPr/>
        </p:nvSpPr>
        <p:spPr>
          <a:xfrm>
            <a:off x="9804400" y="2087879"/>
            <a:ext cx="14732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Evaluator Agent</a:t>
            </a:r>
            <a:endParaRPr lang="en-US" sz="1400" dirty="0"/>
          </a:p>
        </p:txBody>
      </p:sp>
      <p:sp>
        <p:nvSpPr>
          <p:cNvPr id="22" name="Text 16"/>
          <p:cNvSpPr/>
          <p:nvPr/>
        </p:nvSpPr>
        <p:spPr>
          <a:xfrm>
            <a:off x="9804400" y="2387600"/>
            <a:ext cx="147320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4A1E"/>
                </a:solidFill>
                <a:latin typeface="IBM Plex Sans" pitchFamily="34" charset="0"/>
                <a:ea typeface="IBM Plex Sans" pitchFamily="34" charset="-122"/>
                <a:cs typeface="IBM Plex Sans" pitchFamily="34" charset="-120"/>
              </a:rPr>
              <a:t>checks each claim</a:t>
            </a:r>
            <a:endParaRPr lang="en-US" sz="1200" dirty="0"/>
          </a:p>
        </p:txBody>
      </p:sp>
      <p:sp>
        <p:nvSpPr>
          <p:cNvPr id="23" name="Shape 17"/>
          <p:cNvSpPr/>
          <p:nvPr/>
        </p:nvSpPr>
        <p:spPr>
          <a:xfrm>
            <a:off x="812800" y="3055621"/>
            <a:ext cx="2527300" cy="0"/>
          </a:xfrm>
          <a:prstGeom prst="line">
            <a:avLst/>
          </a:prstGeom>
          <a:noFill/>
          <a:ln w="25400">
            <a:solidFill>
              <a:srgbClr val="4F46E5"/>
            </a:solidFill>
            <a:prstDash val="solid"/>
          </a:ln>
        </p:spPr>
      </p:sp>
      <p:sp>
        <p:nvSpPr>
          <p:cNvPr id="24" name="Text 18"/>
          <p:cNvSpPr/>
          <p:nvPr/>
        </p:nvSpPr>
        <p:spPr>
          <a:xfrm>
            <a:off x="812800" y="3195321"/>
            <a:ext cx="260311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Web app</a:t>
            </a:r>
            <a:endParaRPr lang="en-US" sz="1400" dirty="0"/>
          </a:p>
        </p:txBody>
      </p:sp>
      <p:sp>
        <p:nvSpPr>
          <p:cNvPr id="25" name="Text 19"/>
          <p:cNvSpPr/>
          <p:nvPr/>
        </p:nvSpPr>
        <p:spPr>
          <a:xfrm>
            <a:off x="812800" y="3459479"/>
            <a:ext cx="260311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React, with a built-in PDF viewer and admin panel</a:t>
            </a:r>
            <a:endParaRPr lang="en-US" sz="1200" dirty="0"/>
          </a:p>
        </p:txBody>
      </p:sp>
      <p:sp>
        <p:nvSpPr>
          <p:cNvPr id="26" name="Shape 20"/>
          <p:cNvSpPr/>
          <p:nvPr/>
        </p:nvSpPr>
        <p:spPr>
          <a:xfrm>
            <a:off x="3492500" y="3055621"/>
            <a:ext cx="2527300" cy="0"/>
          </a:xfrm>
          <a:prstGeom prst="line">
            <a:avLst/>
          </a:prstGeom>
          <a:noFill/>
          <a:ln w="25400">
            <a:solidFill>
              <a:srgbClr val="4F46E5"/>
            </a:solidFill>
            <a:prstDash val="solid"/>
          </a:ln>
        </p:spPr>
      </p:sp>
      <p:sp>
        <p:nvSpPr>
          <p:cNvPr id="27" name="Text 21"/>
          <p:cNvSpPr/>
          <p:nvPr/>
        </p:nvSpPr>
        <p:spPr>
          <a:xfrm>
            <a:off x="3492500" y="3195321"/>
            <a:ext cx="260311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API</a:t>
            </a:r>
            <a:endParaRPr lang="en-US" sz="1400" dirty="0"/>
          </a:p>
        </p:txBody>
      </p:sp>
      <p:sp>
        <p:nvSpPr>
          <p:cNvPr id="28" name="Text 22"/>
          <p:cNvSpPr/>
          <p:nvPr/>
        </p:nvSpPr>
        <p:spPr>
          <a:xfrm>
            <a:off x="3492500" y="3459479"/>
            <a:ext cx="260311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Python FastAPI on Vercel; streams answers</a:t>
            </a:r>
            <a:endParaRPr lang="en-US" sz="1200" dirty="0"/>
          </a:p>
        </p:txBody>
      </p:sp>
      <p:sp>
        <p:nvSpPr>
          <p:cNvPr id="29" name="Shape 23"/>
          <p:cNvSpPr/>
          <p:nvPr/>
        </p:nvSpPr>
        <p:spPr>
          <a:xfrm>
            <a:off x="6172200" y="3055621"/>
            <a:ext cx="2527300" cy="0"/>
          </a:xfrm>
          <a:prstGeom prst="line">
            <a:avLst/>
          </a:prstGeom>
          <a:noFill/>
          <a:ln w="25400">
            <a:solidFill>
              <a:srgbClr val="4F46E5"/>
            </a:solidFill>
            <a:prstDash val="solid"/>
          </a:ln>
        </p:spPr>
      </p:sp>
      <p:sp>
        <p:nvSpPr>
          <p:cNvPr id="30" name="Text 24"/>
          <p:cNvSpPr/>
          <p:nvPr/>
        </p:nvSpPr>
        <p:spPr>
          <a:xfrm>
            <a:off x="6172200" y="3195321"/>
            <a:ext cx="260311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Data</a:t>
            </a:r>
            <a:endParaRPr lang="en-US" sz="1400" dirty="0"/>
          </a:p>
        </p:txBody>
      </p:sp>
      <p:sp>
        <p:nvSpPr>
          <p:cNvPr id="31" name="Text 25"/>
          <p:cNvSpPr/>
          <p:nvPr/>
        </p:nvSpPr>
        <p:spPr>
          <a:xfrm>
            <a:off x="6172200" y="3459479"/>
            <a:ext cx="260311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Supabase: Postgres + vector search, Auth, file storage</a:t>
            </a:r>
            <a:endParaRPr lang="en-US" sz="1200" dirty="0"/>
          </a:p>
        </p:txBody>
      </p:sp>
      <p:sp>
        <p:nvSpPr>
          <p:cNvPr id="32" name="Shape 26"/>
          <p:cNvSpPr/>
          <p:nvPr/>
        </p:nvSpPr>
        <p:spPr>
          <a:xfrm>
            <a:off x="8851900" y="3055621"/>
            <a:ext cx="2527300" cy="0"/>
          </a:xfrm>
          <a:prstGeom prst="line">
            <a:avLst/>
          </a:prstGeom>
          <a:noFill/>
          <a:ln w="25400">
            <a:solidFill>
              <a:srgbClr val="4F46E5"/>
            </a:solidFill>
            <a:prstDash val="solid"/>
          </a:ln>
        </p:spPr>
      </p:sp>
      <p:sp>
        <p:nvSpPr>
          <p:cNvPr id="33" name="Text 27"/>
          <p:cNvSpPr/>
          <p:nvPr/>
        </p:nvSpPr>
        <p:spPr>
          <a:xfrm>
            <a:off x="8851900" y="3195321"/>
            <a:ext cx="260311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AI models</a:t>
            </a:r>
            <a:endParaRPr lang="en-US" sz="1400" dirty="0"/>
          </a:p>
        </p:txBody>
      </p:sp>
      <p:sp>
        <p:nvSpPr>
          <p:cNvPr id="34" name="Text 28"/>
          <p:cNvSpPr/>
          <p:nvPr/>
        </p:nvSpPr>
        <p:spPr>
          <a:xfrm>
            <a:off x="8851900" y="3459479"/>
            <a:ext cx="260311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DeepSeek for answers and checks; gte-small embeddings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0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IBM Plex Sans" pitchFamily="34" charset="0"/>
                <a:ea typeface="IBM Plex Sans" pitchFamily="34" charset="-122"/>
                <a:cs typeface="IBM Plex Sans" pitchFamily="34" charset="-120"/>
              </a:rPr>
              <a:t>ACCESS CONTROL</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Users only see the libraries they're granted</a:t>
            </a:r>
            <a:endParaRPr lang="en-US" sz="3600" dirty="0"/>
          </a:p>
        </p:txBody>
      </p:sp>
      <p:pic>
        <p:nvPicPr>
          <p:cNvPr id="4" name="Image 0" descr="Lock">    </p:cNvPr>
          <p:cNvPicPr>
            <a:picLocks noChangeAspect="1"/>
          </p:cNvPicPr>
          <p:nvPr/>
        </p:nvPicPr>
        <p:blipFill>
          <a:blip r:embed="rId1"/>
          <a:srcRect l="0" r="0" t="0" b="0"/>
          <a:stretch/>
        </p:blipFill>
        <p:spPr>
          <a:xfrm>
            <a:off x="812800" y="1935479"/>
            <a:ext cx="254000" cy="254000"/>
          </a:xfrm>
          <a:prstGeom prst="rect">
            <a:avLst/>
          </a:prstGeom>
        </p:spPr>
      </p:pic>
      <p:sp>
        <p:nvSpPr>
          <p:cNvPr id="5" name="Text 2"/>
          <p:cNvSpPr/>
          <p:nvPr/>
        </p:nvSpPr>
        <p:spPr>
          <a:xfrm>
            <a:off x="1193800" y="1935479"/>
            <a:ext cx="4292600"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4213D"/>
                </a:solidFill>
                <a:latin typeface="IBM Plex Sans" pitchFamily="34" charset="0"/>
                <a:ea typeface="IBM Plex Sans" pitchFamily="34" charset="-122"/>
                <a:cs typeface="IBM Plex Sans" pitchFamily="34" charset="-120"/>
              </a:rPr>
              <a:t>Invite-only sign-in</a:t>
            </a:r>
            <a:r>
              <a:rPr lang="en-US" sz="1500" dirty="0">
                <a:solidFill>
                  <a:srgbClr val="14213D"/>
                </a:solidFill>
                <a:latin typeface="IBM Plex Sans" pitchFamily="34" charset="0"/>
                <a:ea typeface="IBM Plex Sans" pitchFamily="34" charset="-122"/>
                <a:cs typeface="IBM Plex Sans" pitchFamily="34" charset="-120"/>
              </a:rPr>
              <a:t> with admin and user roles</a:t>
            </a:r>
            <a:endParaRPr lang="en-US" sz="1500" dirty="0"/>
          </a:p>
        </p:txBody>
      </p:sp>
      <p:pic>
        <p:nvPicPr>
          <p:cNvPr id="6" name="Image 1" descr="Users">    </p:cNvPr>
          <p:cNvPicPr>
            <a:picLocks noChangeAspect="1"/>
          </p:cNvPicPr>
          <p:nvPr/>
        </p:nvPicPr>
        <p:blipFill>
          <a:blip r:embed="rId2"/>
          <a:srcRect l="0" r="0" t="0" b="0"/>
          <a:stretch/>
        </p:blipFill>
        <p:spPr>
          <a:xfrm>
            <a:off x="812800" y="2345054"/>
            <a:ext cx="254000" cy="254000"/>
          </a:xfrm>
          <a:prstGeom prst="rect">
            <a:avLst/>
          </a:prstGeom>
        </p:spPr>
      </p:pic>
      <p:sp>
        <p:nvSpPr>
          <p:cNvPr id="7" name="Text 3"/>
          <p:cNvSpPr/>
          <p:nvPr/>
        </p:nvSpPr>
        <p:spPr>
          <a:xfrm>
            <a:off x="1193800" y="2345054"/>
            <a:ext cx="4062476"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4213D"/>
                </a:solidFill>
                <a:latin typeface="IBM Plex Sans" pitchFamily="34" charset="0"/>
                <a:ea typeface="IBM Plex Sans" pitchFamily="34" charset="-122"/>
                <a:cs typeface="IBM Plex Sans" pitchFamily="34" charset="-120"/>
              </a:rPr>
              <a:t>Per-user library grants</a:t>
            </a:r>
            <a:r>
              <a:rPr lang="en-US" sz="1500" dirty="0">
                <a:solidFill>
                  <a:srgbClr val="14213D"/>
                </a:solidFill>
                <a:latin typeface="IBM Plex Sans" pitchFamily="34" charset="0"/>
                <a:ea typeface="IBM Plex Sans" pitchFamily="34" charset="-122"/>
                <a:cs typeface="IBM Plex Sans" pitchFamily="34" charset="-120"/>
              </a:rPr>
              <a:t> set by an admin</a:t>
            </a:r>
            <a:endParaRPr lang="en-US" sz="1500" dirty="0"/>
          </a:p>
        </p:txBody>
      </p:sp>
      <p:pic>
        <p:nvPicPr>
          <p:cNvPr id="8" name="Image 2" descr="Database">    </p:cNvPr>
          <p:cNvPicPr>
            <a:picLocks noChangeAspect="1"/>
          </p:cNvPicPr>
          <p:nvPr/>
        </p:nvPicPr>
        <p:blipFill>
          <a:blip r:embed="rId3"/>
          <a:srcRect l="0" r="0" t="-56" b="-56"/>
          <a:stretch/>
        </p:blipFill>
        <p:spPr>
          <a:xfrm>
            <a:off x="812800" y="2754629"/>
            <a:ext cx="190288" cy="254000"/>
          </a:xfrm>
          <a:prstGeom prst="rect">
            <a:avLst/>
          </a:prstGeom>
        </p:spPr>
      </p:pic>
      <p:sp>
        <p:nvSpPr>
          <p:cNvPr id="9" name="Text 4"/>
          <p:cNvSpPr/>
          <p:nvPr/>
        </p:nvSpPr>
        <p:spPr>
          <a:xfrm>
            <a:off x="1130088" y="2754629"/>
            <a:ext cx="4120733"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4213D"/>
                </a:solidFill>
                <a:latin typeface="IBM Plex Sans" pitchFamily="34" charset="0"/>
                <a:ea typeface="IBM Plex Sans" pitchFamily="34" charset="-122"/>
                <a:cs typeface="IBM Plex Sans" pitchFamily="34" charset="-120"/>
              </a:rPr>
              <a:t>Enforced in the database</a:t>
            </a:r>
            <a:r>
              <a:rPr lang="en-US" sz="1500" dirty="0">
                <a:solidFill>
                  <a:srgbClr val="14213D"/>
                </a:solidFill>
                <a:latin typeface="IBM Plex Sans" pitchFamily="34" charset="0"/>
                <a:ea typeface="IBM Plex Sans" pitchFamily="34" charset="-122"/>
                <a:cs typeface="IBM Plex Sans" pitchFamily="34" charset="-120"/>
              </a:rPr>
              <a:t>, so search can't reach other libraries</a:t>
            </a:r>
            <a:endParaRPr lang="en-US" sz="1500" dirty="0"/>
          </a:p>
        </p:txBody>
      </p:sp>
      <p:pic>
        <p:nvPicPr>
          <p:cNvPr id="10" name="Image 3" descr="Key">    </p:cNvPr>
          <p:cNvPicPr>
            <a:picLocks noChangeAspect="1"/>
          </p:cNvPicPr>
          <p:nvPr/>
        </p:nvPicPr>
        <p:blipFill>
          <a:blip r:embed="rId4"/>
          <a:srcRect l="0" r="0" t="0" b="0"/>
          <a:stretch/>
        </p:blipFill>
        <p:spPr>
          <a:xfrm>
            <a:off x="812800" y="3421379"/>
            <a:ext cx="254000" cy="254000"/>
          </a:xfrm>
          <a:prstGeom prst="rect">
            <a:avLst/>
          </a:prstGeom>
        </p:spPr>
      </p:pic>
      <p:sp>
        <p:nvSpPr>
          <p:cNvPr id="11" name="Text 5"/>
          <p:cNvSpPr/>
          <p:nvPr/>
        </p:nvSpPr>
        <p:spPr>
          <a:xfrm>
            <a:off x="1193800" y="3421379"/>
            <a:ext cx="4292600"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4213D"/>
                </a:solidFill>
                <a:latin typeface="IBM Plex Sans" pitchFamily="34" charset="0"/>
                <a:ea typeface="IBM Plex Sans" pitchFamily="34" charset="-122"/>
                <a:cs typeface="IBM Plex Sans" pitchFamily="34" charset="-120"/>
              </a:rPr>
              <a:t>Private PDFs</a:t>
            </a:r>
            <a:r>
              <a:rPr lang="en-US" sz="1500" dirty="0">
                <a:solidFill>
                  <a:srgbClr val="14213D"/>
                </a:solidFill>
                <a:latin typeface="IBM Plex Sans" pitchFamily="34" charset="0"/>
                <a:ea typeface="IBM Plex Sans" pitchFamily="34" charset="-122"/>
                <a:cs typeface="IBM Plex Sans" pitchFamily="34" charset="-120"/>
              </a:rPr>
              <a:t> served through short-lived links</a:t>
            </a:r>
            <a:endParaRPr lang="en-US" sz="1500" dirty="0"/>
          </a:p>
        </p:txBody>
      </p:sp>
      <p:sp>
        <p:nvSpPr>
          <p:cNvPr id="12" name="Text 6"/>
          <p:cNvSpPr/>
          <p:nvPr/>
        </p:nvSpPr>
        <p:spPr>
          <a:xfrm>
            <a:off x="812800" y="3830954"/>
            <a:ext cx="4318000" cy="408940"/>
          </a:xfrm>
          <a:prstGeom prst="roundRect">
            <a:avLst>
              <a:gd name="adj" fmla="val 18634"/>
            </a:avLst>
          </a:prstGeom>
          <a:solidFill>
            <a:srgbClr val="DCFCE7"/>
          </a:solidFill>
          <a:ln/>
        </p:spPr>
        <p:txBody>
          <a:bodyPr wrap="square" lIns="130082" tIns="66582" rIns="9686" bIns="41182" rtlCol="0" anchor="t">
            <a:normAutofit/>
          </a:bodyPr>
          <a:lstStyle/>
          <a:p>
            <a:pPr algn="l" indent="0" marL="0">
              <a:lnSpc>
                <a:spcPts val="1820"/>
              </a:lnSpc>
              <a:buNone/>
            </a:pPr>
            <a:r>
              <a:rPr lang="en-US" sz="1300" b="1" dirty="0">
                <a:solidFill>
                  <a:srgbClr val="14532D"/>
                </a:solidFill>
                <a:latin typeface="IBM Plex Sans" pitchFamily="34" charset="0"/>
                <a:ea typeface="IBM Plex Sans" pitchFamily="34" charset="-122"/>
                <a:cs typeface="IBM Plex Sans" pitchFamily="34" charset="-120"/>
              </a:rPr>
              <a:t>24 automated security tests pass</a:t>
            </a:r>
            <a:endParaRPr lang="en-US" sz="1300" dirty="0"/>
          </a:p>
        </p:txBody>
      </p:sp>
      <p:sp>
        <p:nvSpPr>
          <p:cNvPr id="13" name="Shape 7"/>
          <p:cNvSpPr/>
          <p:nvPr/>
        </p:nvSpPr>
        <p:spPr>
          <a:xfrm>
            <a:off x="5486400" y="1935479"/>
            <a:ext cx="5892800" cy="2984500"/>
          </a:xfrm>
          <a:prstGeom prst="roundRect">
            <a:avLst>
              <a:gd name="adj" fmla="val 3404"/>
            </a:avLst>
          </a:prstGeom>
          <a:solidFill>
            <a:srgbClr val="FFFFFF"/>
          </a:solidFill>
          <a:ln/>
          <a:effectLst>
            <a:outerShdw sx="100000" sy="100000" kx="0" ky="0" algn="bl" rotWithShape="0" blurRad="254000" dist="101600" dir="5400000">
              <a:srgbClr val="14213D">
                <a:alpha val="12000"/>
              </a:srgbClr>
            </a:outerShdw>
          </a:effectLst>
        </p:spPr>
      </p:sp>
      <p:pic>
        <p:nvPicPr>
          <p:cNvPr id="14" name="Image 4" descr="Admin user management screen: invite a user, set their role and choose which libraries they can search">    </p:cNvPr>
          <p:cNvPicPr>
            <a:picLocks noChangeAspect="1"/>
          </p:cNvPicPr>
          <p:nvPr/>
        </p:nvPicPr>
        <p:blipFill>
          <a:blip r:embed="rId5"/>
          <a:srcRect l="-97" r="-97" t="0" b="0"/>
          <a:stretch/>
        </p:blipFill>
        <p:spPr>
          <a:xfrm>
            <a:off x="5492750" y="1941829"/>
            <a:ext cx="5880100" cy="2971800"/>
          </a:xfrm>
          <a:prstGeom prst="roundRect">
            <a:avLst>
              <a:gd name="adj" fmla="val 3205"/>
            </a:avLst>
          </a:prstGeom>
        </p:spPr>
      </p:pic>
      <p:sp>
        <p:nvSpPr>
          <p:cNvPr id="15" name="Shape 8"/>
          <p:cNvSpPr/>
          <p:nvPr/>
        </p:nvSpPr>
        <p:spPr>
          <a:xfrm>
            <a:off x="5489575" y="1938654"/>
            <a:ext cx="5886450" cy="2978150"/>
          </a:xfrm>
          <a:prstGeom prst="roundRect">
            <a:avLst>
              <a:gd name="adj" fmla="val 3305"/>
            </a:avLst>
          </a:prstGeom>
          <a:noFill/>
          <a:ln w="6350">
            <a:solidFill>
              <a:srgbClr val="D5D9E3"/>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IBM Plex Sans" pitchFamily="34" charset="0"/>
                <a:ea typeface="IBM Plex Sans" pitchFamily="34" charset="-122"/>
                <a:cs typeface="IBM Plex Sans" pitchFamily="34" charset="-120"/>
              </a:rPr>
              <a:t>QUALITY AND EVIDENCE</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ource Serif 4" pitchFamily="18" charset="0"/>
                <a:ea typeface="Source Serif 4" pitchFamily="18" charset="-122"/>
                <a:cs typeface="Source Serif 4" pitchFamily="18" charset="-120"/>
              </a:rPr>
              <a:t>Quality is measured, not assumed</a:t>
            </a:r>
            <a:endParaRPr lang="en-US" sz="3600" dirty="0"/>
          </a:p>
        </p:txBody>
      </p:sp>
      <p:sp>
        <p:nvSpPr>
          <p:cNvPr id="4" name="Shape 2"/>
          <p:cNvSpPr/>
          <p:nvPr/>
        </p:nvSpPr>
        <p:spPr>
          <a:xfrm>
            <a:off x="815975" y="1913254"/>
            <a:ext cx="2216150" cy="1256030"/>
          </a:xfrm>
          <a:prstGeom prst="roundRect">
            <a:avLst>
              <a:gd name="adj" fmla="val 7836"/>
            </a:avLst>
          </a:prstGeom>
          <a:solidFill>
            <a:srgbClr val="FFFFFF"/>
          </a:solidFill>
          <a:ln w="6350">
            <a:solidFill>
              <a:srgbClr val="E2E4EA"/>
            </a:solidFill>
            <a:prstDash val="solid"/>
          </a:ln>
        </p:spPr>
      </p:sp>
      <p:sp>
        <p:nvSpPr>
          <p:cNvPr id="5" name="Text 3"/>
          <p:cNvSpPr/>
          <p:nvPr/>
        </p:nvSpPr>
        <p:spPr>
          <a:xfrm>
            <a:off x="995680" y="2092961"/>
            <a:ext cx="191244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4F46E5"/>
                </a:solidFill>
                <a:latin typeface="Source Serif 4" pitchFamily="18" charset="0"/>
                <a:ea typeface="Source Serif 4" pitchFamily="18" charset="-122"/>
                <a:cs typeface="Source Serif 4" pitchFamily="18" charset="-120"/>
              </a:rPr>
              <a:t>530</a:t>
            </a:r>
            <a:endParaRPr lang="en-US" sz="3200" dirty="0"/>
          </a:p>
        </p:txBody>
      </p:sp>
      <p:sp>
        <p:nvSpPr>
          <p:cNvPr id="6" name="Text 4"/>
          <p:cNvSpPr/>
          <p:nvPr/>
        </p:nvSpPr>
        <p:spPr>
          <a:xfrm>
            <a:off x="995680" y="2578100"/>
            <a:ext cx="191244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report pages indexed in testing</a:t>
            </a:r>
            <a:endParaRPr lang="en-US" sz="1200" dirty="0"/>
          </a:p>
        </p:txBody>
      </p:sp>
      <p:sp>
        <p:nvSpPr>
          <p:cNvPr id="7" name="Shape 5"/>
          <p:cNvSpPr/>
          <p:nvPr/>
        </p:nvSpPr>
        <p:spPr>
          <a:xfrm>
            <a:off x="3165475" y="1913254"/>
            <a:ext cx="2216150" cy="1256030"/>
          </a:xfrm>
          <a:prstGeom prst="roundRect">
            <a:avLst>
              <a:gd name="adj" fmla="val 7836"/>
            </a:avLst>
          </a:prstGeom>
          <a:solidFill>
            <a:srgbClr val="FFFFFF"/>
          </a:solidFill>
          <a:ln w="6350">
            <a:solidFill>
              <a:srgbClr val="E2E4EA"/>
            </a:solidFill>
            <a:prstDash val="solid"/>
          </a:ln>
        </p:spPr>
      </p:sp>
      <p:sp>
        <p:nvSpPr>
          <p:cNvPr id="8" name="Text 6"/>
          <p:cNvSpPr/>
          <p:nvPr/>
        </p:nvSpPr>
        <p:spPr>
          <a:xfrm>
            <a:off x="3345180" y="2092961"/>
            <a:ext cx="191244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4F46E5"/>
                </a:solidFill>
                <a:latin typeface="Source Serif 4" pitchFamily="18" charset="0"/>
                <a:ea typeface="Source Serif 4" pitchFamily="18" charset="-122"/>
                <a:cs typeface="Source Serif 4" pitchFamily="18" charset="-120"/>
              </a:rPr>
              <a:t>100%</a:t>
            </a:r>
            <a:endParaRPr lang="en-US" sz="3200" dirty="0"/>
          </a:p>
        </p:txBody>
      </p:sp>
      <p:sp>
        <p:nvSpPr>
          <p:cNvPr id="9" name="Text 7"/>
          <p:cNvSpPr/>
          <p:nvPr/>
        </p:nvSpPr>
        <p:spPr>
          <a:xfrm>
            <a:off x="3345180" y="2578100"/>
            <a:ext cx="191244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grounded on the test questions</a:t>
            </a:r>
            <a:endParaRPr lang="en-US" sz="1200" dirty="0"/>
          </a:p>
        </p:txBody>
      </p:sp>
      <p:sp>
        <p:nvSpPr>
          <p:cNvPr id="10" name="Shape 8"/>
          <p:cNvSpPr/>
          <p:nvPr/>
        </p:nvSpPr>
        <p:spPr>
          <a:xfrm>
            <a:off x="815975" y="3302636"/>
            <a:ext cx="2216150" cy="1050290"/>
          </a:xfrm>
          <a:prstGeom prst="roundRect">
            <a:avLst>
              <a:gd name="adj" fmla="val 9371"/>
            </a:avLst>
          </a:prstGeom>
          <a:solidFill>
            <a:srgbClr val="FFFFFF"/>
          </a:solidFill>
          <a:ln w="6350">
            <a:solidFill>
              <a:srgbClr val="E2E4EA"/>
            </a:solidFill>
            <a:prstDash val="solid"/>
          </a:ln>
        </p:spPr>
      </p:sp>
      <p:sp>
        <p:nvSpPr>
          <p:cNvPr id="11" name="Text 9"/>
          <p:cNvSpPr/>
          <p:nvPr/>
        </p:nvSpPr>
        <p:spPr>
          <a:xfrm>
            <a:off x="995680" y="3482339"/>
            <a:ext cx="191244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4F46E5"/>
                </a:solidFill>
                <a:latin typeface="Source Serif 4" pitchFamily="18" charset="0"/>
                <a:ea typeface="Source Serif 4" pitchFamily="18" charset="-122"/>
                <a:cs typeface="Source Serif 4" pitchFamily="18" charset="-120"/>
              </a:rPr>
              <a:t>19–28 s</a:t>
            </a:r>
            <a:endParaRPr lang="en-US" sz="3200" dirty="0"/>
          </a:p>
        </p:txBody>
      </p:sp>
      <p:sp>
        <p:nvSpPr>
          <p:cNvPr id="12" name="Text 10"/>
          <p:cNvSpPr/>
          <p:nvPr/>
        </p:nvSpPr>
        <p:spPr>
          <a:xfrm>
            <a:off x="995680" y="3967479"/>
            <a:ext cx="203327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per answer, check included</a:t>
            </a:r>
            <a:endParaRPr lang="en-US" sz="1200" dirty="0"/>
          </a:p>
        </p:txBody>
      </p:sp>
      <p:sp>
        <p:nvSpPr>
          <p:cNvPr id="13" name="Shape 11"/>
          <p:cNvSpPr/>
          <p:nvPr/>
        </p:nvSpPr>
        <p:spPr>
          <a:xfrm>
            <a:off x="3165475" y="3302636"/>
            <a:ext cx="2216150" cy="1050290"/>
          </a:xfrm>
          <a:prstGeom prst="roundRect">
            <a:avLst>
              <a:gd name="adj" fmla="val 9371"/>
            </a:avLst>
          </a:prstGeom>
          <a:solidFill>
            <a:srgbClr val="FFFFFF"/>
          </a:solidFill>
          <a:ln w="6350">
            <a:solidFill>
              <a:srgbClr val="E2E4EA"/>
            </a:solidFill>
            <a:prstDash val="solid"/>
          </a:ln>
        </p:spPr>
      </p:sp>
      <p:sp>
        <p:nvSpPr>
          <p:cNvPr id="14" name="Text 12"/>
          <p:cNvSpPr/>
          <p:nvPr/>
        </p:nvSpPr>
        <p:spPr>
          <a:xfrm>
            <a:off x="3345180" y="3482339"/>
            <a:ext cx="191244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4F46E5"/>
                </a:solidFill>
                <a:latin typeface="Source Serif 4" pitchFamily="18" charset="0"/>
                <a:ea typeface="Source Serif 4" pitchFamily="18" charset="-122"/>
                <a:cs typeface="Source Serif 4" pitchFamily="18" charset="-120"/>
              </a:rPr>
              <a:t>&lt; 4¢</a:t>
            </a:r>
            <a:endParaRPr lang="en-US" sz="3200" dirty="0"/>
          </a:p>
        </p:txBody>
      </p:sp>
      <p:sp>
        <p:nvSpPr>
          <p:cNvPr id="15" name="Text 13"/>
          <p:cNvSpPr/>
          <p:nvPr/>
        </p:nvSpPr>
        <p:spPr>
          <a:xfrm>
            <a:off x="3345180" y="3967479"/>
            <a:ext cx="1912442"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model cost per question</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750560" y="1920239"/>
          <a:ext cx="5628640" cy="1784350"/>
        </p:xfrm>
        <a:graphic>
          <a:graphicData uri="http://schemas.openxmlformats.org/drawingml/2006/table">
            <a:tbl>
              <a:tblPr/>
              <a:tblGrid>
                <a:gridCol w="3489757"/>
                <a:gridCol w="2138883"/>
              </a:tblGrid>
              <a:tr h="356870">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Offline metric (golden set)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Target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Right pages retrieved (Recall@10)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 85%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Citations support the claim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 90%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Unanswerable questions declined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 90%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Correctness vs. expert answer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tracked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17" name="Text 14"/>
          <p:cNvSpPr/>
          <p:nvPr/>
        </p:nvSpPr>
        <p:spPr>
          <a:xfrm>
            <a:off x="5740400" y="3856989"/>
            <a:ext cx="5638800" cy="716280"/>
          </a:xfrm>
          <a:prstGeom prst="roundRect">
            <a:avLst>
              <a:gd name="adj" fmla="val 10638"/>
            </a:avLst>
          </a:prstGeom>
          <a:solidFill>
            <a:srgbClr val="FEF3C7"/>
          </a:solidFill>
          <a:ln/>
        </p:spPr>
        <p:txBody>
          <a:bodyPr wrap="square" lIns="130082" tIns="104682" rIns="0" bIns="79282" rtlCol="0" anchor="t">
            <a:normAutofit/>
          </a:bodyPr>
          <a:lstStyle/>
          <a:p>
            <a:pPr algn="l" indent="0" marL="0">
              <a:lnSpc>
                <a:spcPts val="1820"/>
              </a:lnSpc>
              <a:buNone/>
            </a:pPr>
            <a:r>
              <a:rPr lang="en-US" sz="1300" b="1" dirty="0">
                <a:solidFill>
                  <a:srgbClr val="5B3A06"/>
                </a:solidFill>
                <a:latin typeface="IBM Plex Sans" pitchFamily="34" charset="0"/>
                <a:ea typeface="IBM Plex Sans" pitchFamily="34" charset="-122"/>
                <a:cs typeface="IBM Plex Sans" pitchFamily="34" charset="-120"/>
              </a:rPr>
              <a:t>Found in testing:</a:t>
            </a:r>
            <a:r>
              <a:rPr lang="en-US" sz="1300" dirty="0">
                <a:solidFill>
                  <a:srgbClr val="5B3A06"/>
                </a:solidFill>
                <a:latin typeface="IBM Plex Sans" pitchFamily="34" charset="0"/>
                <a:ea typeface="IBM Plex Sans" pitchFamily="34" charset="-122"/>
                <a:cs typeface="IBM Plex Sans" pitchFamily="34" charset="-120"/>
              </a:rPr>
              <a:t> reference lists can crowd out body text in search. The assistant declined rather than guessing; a fix is planned for pilot week 1.</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5B4FC"/>
                </a:solidFill>
                <a:latin typeface="IBM Plex Sans" pitchFamily="34" charset="0"/>
                <a:ea typeface="IBM Plex Sans" pitchFamily="34" charset="-122"/>
                <a:cs typeface="IBM Plex Sans" pitchFamily="34" charset="-120"/>
              </a:rPr>
              <a:t>NEXT STEP</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6F2"/>
                </a:solidFill>
                <a:latin typeface="Source Serif 4" pitchFamily="18" charset="0"/>
                <a:ea typeface="Source Serif 4" pitchFamily="18" charset="-122"/>
                <a:cs typeface="Source Serif 4" pitchFamily="18" charset="-120"/>
              </a:rPr>
              <a:t>A 4-week pilot with real customers</a:t>
            </a:r>
            <a:endParaRPr lang="en-US" sz="3600" dirty="0"/>
          </a:p>
        </p:txBody>
      </p:sp>
      <p:sp>
        <p:nvSpPr>
          <p:cNvPr id="4" name="Shape 2"/>
          <p:cNvSpPr/>
          <p:nvPr/>
        </p:nvSpPr>
        <p:spPr>
          <a:xfrm>
            <a:off x="812800" y="1935479"/>
            <a:ext cx="2527300" cy="1094740"/>
          </a:xfrm>
          <a:prstGeom prst="roundRect">
            <a:avLst>
              <a:gd name="adj" fmla="val 9281"/>
            </a:avLst>
          </a:prstGeom>
          <a:solidFill>
            <a:srgbClr val="1E2D4F"/>
          </a:solidFill>
          <a:ln/>
        </p:spPr>
      </p:sp>
      <p:sp>
        <p:nvSpPr>
          <p:cNvPr id="5" name="Text 3"/>
          <p:cNvSpPr/>
          <p:nvPr/>
        </p:nvSpPr>
        <p:spPr>
          <a:xfrm>
            <a:off x="990600" y="2113279"/>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5B4FC"/>
                </a:solidFill>
                <a:latin typeface="IBM Plex Sans" pitchFamily="34" charset="0"/>
                <a:ea typeface="IBM Plex Sans" pitchFamily="34" charset="-122"/>
                <a:cs typeface="IBM Plex Sans" pitchFamily="34" charset="-120"/>
              </a:rPr>
              <a:t>Week 1</a:t>
            </a:r>
            <a:endParaRPr lang="en-US" sz="1200" dirty="0"/>
          </a:p>
        </p:txBody>
      </p:sp>
      <p:sp>
        <p:nvSpPr>
          <p:cNvPr id="6" name="Text 4"/>
          <p:cNvSpPr/>
          <p:nvPr/>
        </p:nvSpPr>
        <p:spPr>
          <a:xfrm>
            <a:off x="990600" y="2390139"/>
            <a:ext cx="223685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2E8F0"/>
                </a:solidFill>
                <a:latin typeface="IBM Plex Sans" pitchFamily="34" charset="0"/>
                <a:ea typeface="IBM Plex Sans" pitchFamily="34" charset="-122"/>
                <a:cs typeface="IBM Plex Sans" pitchFamily="34" charset="-120"/>
              </a:rPr>
              <a:t>Fix retrieval, load 1–2 libraries, write the test set</a:t>
            </a:r>
            <a:endParaRPr lang="en-US" sz="1300" dirty="0"/>
          </a:p>
        </p:txBody>
      </p:sp>
      <p:sp>
        <p:nvSpPr>
          <p:cNvPr id="7" name="Shape 5"/>
          <p:cNvSpPr/>
          <p:nvPr/>
        </p:nvSpPr>
        <p:spPr>
          <a:xfrm>
            <a:off x="3492500" y="1935479"/>
            <a:ext cx="2527300" cy="1094740"/>
          </a:xfrm>
          <a:prstGeom prst="roundRect">
            <a:avLst>
              <a:gd name="adj" fmla="val 9281"/>
            </a:avLst>
          </a:prstGeom>
          <a:solidFill>
            <a:srgbClr val="1E2D4F"/>
          </a:solidFill>
          <a:ln/>
        </p:spPr>
      </p:sp>
      <p:sp>
        <p:nvSpPr>
          <p:cNvPr id="8" name="Text 6"/>
          <p:cNvSpPr/>
          <p:nvPr/>
        </p:nvSpPr>
        <p:spPr>
          <a:xfrm>
            <a:off x="3670300" y="2113279"/>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5B4FC"/>
                </a:solidFill>
                <a:latin typeface="IBM Plex Sans" pitchFamily="34" charset="0"/>
                <a:ea typeface="IBM Plex Sans" pitchFamily="34" charset="-122"/>
                <a:cs typeface="IBM Plex Sans" pitchFamily="34" charset="-120"/>
              </a:rPr>
              <a:t>Week 2</a:t>
            </a:r>
            <a:endParaRPr lang="en-US" sz="1200" dirty="0"/>
          </a:p>
        </p:txBody>
      </p:sp>
      <p:sp>
        <p:nvSpPr>
          <p:cNvPr id="9" name="Text 7"/>
          <p:cNvSpPr/>
          <p:nvPr/>
        </p:nvSpPr>
        <p:spPr>
          <a:xfrm>
            <a:off x="3670300" y="2390139"/>
            <a:ext cx="223685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2E8F0"/>
                </a:solidFill>
                <a:latin typeface="IBM Plex Sans" pitchFamily="34" charset="0"/>
                <a:ea typeface="IBM Plex Sans" pitchFamily="34" charset="-122"/>
                <a:cs typeface="IBM Plex Sans" pitchFamily="34" charset="-120"/>
              </a:rPr>
              <a:t>Onboard 5–10 users; timed tasks vs. manual search</a:t>
            </a:r>
            <a:endParaRPr lang="en-US" sz="1300" dirty="0"/>
          </a:p>
        </p:txBody>
      </p:sp>
      <p:sp>
        <p:nvSpPr>
          <p:cNvPr id="10" name="Shape 8"/>
          <p:cNvSpPr/>
          <p:nvPr/>
        </p:nvSpPr>
        <p:spPr>
          <a:xfrm>
            <a:off x="6172200" y="1935479"/>
            <a:ext cx="2527300" cy="1094740"/>
          </a:xfrm>
          <a:prstGeom prst="roundRect">
            <a:avLst>
              <a:gd name="adj" fmla="val 9281"/>
            </a:avLst>
          </a:prstGeom>
          <a:solidFill>
            <a:srgbClr val="1E2D4F"/>
          </a:solidFill>
          <a:ln/>
        </p:spPr>
      </p:sp>
      <p:sp>
        <p:nvSpPr>
          <p:cNvPr id="11" name="Text 9"/>
          <p:cNvSpPr/>
          <p:nvPr/>
        </p:nvSpPr>
        <p:spPr>
          <a:xfrm>
            <a:off x="6350000" y="2113279"/>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5B4FC"/>
                </a:solidFill>
                <a:latin typeface="IBM Plex Sans" pitchFamily="34" charset="0"/>
                <a:ea typeface="IBM Plex Sans" pitchFamily="34" charset="-122"/>
                <a:cs typeface="IBM Plex Sans" pitchFamily="34" charset="-120"/>
              </a:rPr>
              <a:t>Week 3</a:t>
            </a:r>
            <a:endParaRPr lang="en-US" sz="1200" dirty="0"/>
          </a:p>
        </p:txBody>
      </p:sp>
      <p:sp>
        <p:nvSpPr>
          <p:cNvPr id="12" name="Text 10"/>
          <p:cNvSpPr/>
          <p:nvPr/>
        </p:nvSpPr>
        <p:spPr>
          <a:xfrm>
            <a:off x="6350000" y="2390139"/>
            <a:ext cx="223685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2E8F0"/>
                </a:solidFill>
                <a:latin typeface="IBM Plex Sans" pitchFamily="34" charset="0"/>
                <a:ea typeface="IBM Plex Sans" pitchFamily="34" charset="-122"/>
                <a:cs typeface="IBM Plex Sans" pitchFamily="34" charset="-120"/>
              </a:rPr>
              <a:t>Open use; tune weekly from Insights and feedback</a:t>
            </a:r>
            <a:endParaRPr lang="en-US" sz="1300" dirty="0"/>
          </a:p>
        </p:txBody>
      </p:sp>
      <p:sp>
        <p:nvSpPr>
          <p:cNvPr id="13" name="Shape 11"/>
          <p:cNvSpPr/>
          <p:nvPr/>
        </p:nvSpPr>
        <p:spPr>
          <a:xfrm>
            <a:off x="8851900" y="1935479"/>
            <a:ext cx="2527300" cy="1094740"/>
          </a:xfrm>
          <a:prstGeom prst="roundRect">
            <a:avLst>
              <a:gd name="adj" fmla="val 9281"/>
            </a:avLst>
          </a:prstGeom>
          <a:solidFill>
            <a:srgbClr val="1E2D4F"/>
          </a:solidFill>
          <a:ln/>
        </p:spPr>
      </p:sp>
      <p:sp>
        <p:nvSpPr>
          <p:cNvPr id="14" name="Text 12"/>
          <p:cNvSpPr/>
          <p:nvPr/>
        </p:nvSpPr>
        <p:spPr>
          <a:xfrm>
            <a:off x="9029700" y="2113279"/>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5B4FC"/>
                </a:solidFill>
                <a:latin typeface="IBM Plex Sans" pitchFamily="34" charset="0"/>
                <a:ea typeface="IBM Plex Sans" pitchFamily="34" charset="-122"/>
                <a:cs typeface="IBM Plex Sans" pitchFamily="34" charset="-120"/>
              </a:rPr>
              <a:t>Week 4</a:t>
            </a:r>
            <a:endParaRPr lang="en-US" sz="1200" dirty="0"/>
          </a:p>
        </p:txBody>
      </p:sp>
      <p:sp>
        <p:nvSpPr>
          <p:cNvPr id="15" name="Text 13"/>
          <p:cNvSpPr/>
          <p:nvPr/>
        </p:nvSpPr>
        <p:spPr>
          <a:xfrm>
            <a:off x="9029700" y="2390139"/>
            <a:ext cx="223685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2E8F0"/>
                </a:solidFill>
                <a:latin typeface="IBM Plex Sans" pitchFamily="34" charset="0"/>
                <a:ea typeface="IBM Plex Sans" pitchFamily="34" charset="-122"/>
                <a:cs typeface="IBM Plex Sans" pitchFamily="34" charset="-120"/>
              </a:rPr>
              <a:t>Interviews, results, go/no-go recommendation</a:t>
            </a:r>
            <a:endParaRPr lang="en-US" sz="1300" dirty="0"/>
          </a:p>
        </p:txBody>
      </p:sp>
      <p:sp>
        <p:nvSpPr>
          <p:cNvPr id="16" name="Text 14"/>
          <p:cNvSpPr/>
          <p:nvPr/>
        </p:nvSpPr>
        <p:spPr>
          <a:xfrm>
            <a:off x="812800" y="3335021"/>
            <a:ext cx="2603119"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86EFAC"/>
                </a:solidFill>
                <a:latin typeface="Source Serif 4" pitchFamily="18" charset="0"/>
                <a:ea typeface="Source Serif 4" pitchFamily="18" charset="-122"/>
                <a:cs typeface="Source Serif 4" pitchFamily="18" charset="-120"/>
              </a:rPr>
              <a:t>≥ 50%</a:t>
            </a:r>
            <a:endParaRPr lang="en-US" sz="2800" dirty="0"/>
          </a:p>
        </p:txBody>
      </p:sp>
      <p:sp>
        <p:nvSpPr>
          <p:cNvPr id="17" name="Text 15"/>
          <p:cNvSpPr/>
          <p:nvPr/>
        </p:nvSpPr>
        <p:spPr>
          <a:xfrm>
            <a:off x="812800" y="3858261"/>
            <a:ext cx="260311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E3"/>
                </a:solidFill>
                <a:latin typeface="IBM Plex Sans" pitchFamily="34" charset="0"/>
                <a:ea typeface="IBM Plex Sans" pitchFamily="34" charset="-122"/>
                <a:cs typeface="IBM Plex Sans" pitchFamily="34" charset="-120"/>
              </a:rPr>
              <a:t>faster than manual search</a:t>
            </a:r>
            <a:endParaRPr lang="en-US" sz="1200" dirty="0"/>
          </a:p>
        </p:txBody>
      </p:sp>
      <p:sp>
        <p:nvSpPr>
          <p:cNvPr id="18" name="Text 16"/>
          <p:cNvSpPr/>
          <p:nvPr/>
        </p:nvSpPr>
        <p:spPr>
          <a:xfrm>
            <a:off x="3492500" y="3335021"/>
            <a:ext cx="2603119"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86EFAC"/>
                </a:solidFill>
                <a:latin typeface="Source Serif 4" pitchFamily="18" charset="0"/>
                <a:ea typeface="Source Serif 4" pitchFamily="18" charset="-122"/>
                <a:cs typeface="Source Serif 4" pitchFamily="18" charset="-120"/>
              </a:rPr>
              <a:t>≥ 90%</a:t>
            </a:r>
            <a:endParaRPr lang="en-US" sz="2800" dirty="0"/>
          </a:p>
        </p:txBody>
      </p:sp>
      <p:sp>
        <p:nvSpPr>
          <p:cNvPr id="19" name="Text 17"/>
          <p:cNvSpPr/>
          <p:nvPr/>
        </p:nvSpPr>
        <p:spPr>
          <a:xfrm>
            <a:off x="3492500" y="3858261"/>
            <a:ext cx="260311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E3"/>
                </a:solidFill>
                <a:latin typeface="IBM Plex Sans" pitchFamily="34" charset="0"/>
                <a:ea typeface="IBM Plex Sans" pitchFamily="34" charset="-122"/>
                <a:cs typeface="IBM Plex Sans" pitchFamily="34" charset="-120"/>
              </a:rPr>
              <a:t>citation accuracy</a:t>
            </a:r>
            <a:endParaRPr lang="en-US" sz="1200" dirty="0"/>
          </a:p>
        </p:txBody>
      </p:sp>
      <p:sp>
        <p:nvSpPr>
          <p:cNvPr id="20" name="Text 18"/>
          <p:cNvSpPr/>
          <p:nvPr/>
        </p:nvSpPr>
        <p:spPr>
          <a:xfrm>
            <a:off x="6172200" y="3335021"/>
            <a:ext cx="2603119"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86EFAC"/>
                </a:solidFill>
                <a:latin typeface="Source Serif 4" pitchFamily="18" charset="0"/>
                <a:ea typeface="Source Serif 4" pitchFamily="18" charset="-122"/>
                <a:cs typeface="Source Serif 4" pitchFamily="18" charset="-120"/>
              </a:rPr>
              <a:t>≥ 85%</a:t>
            </a:r>
            <a:endParaRPr lang="en-US" sz="2800" dirty="0"/>
          </a:p>
        </p:txBody>
      </p:sp>
      <p:sp>
        <p:nvSpPr>
          <p:cNvPr id="21" name="Text 19"/>
          <p:cNvSpPr/>
          <p:nvPr/>
        </p:nvSpPr>
        <p:spPr>
          <a:xfrm>
            <a:off x="6172200" y="3858261"/>
            <a:ext cx="260311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E3"/>
                </a:solidFill>
                <a:latin typeface="IBM Plex Sans" pitchFamily="34" charset="0"/>
                <a:ea typeface="IBM Plex Sans" pitchFamily="34" charset="-122"/>
                <a:cs typeface="IBM Plex Sans" pitchFamily="34" charset="-120"/>
              </a:rPr>
              <a:t>right pages retrieved</a:t>
            </a:r>
            <a:endParaRPr lang="en-US" sz="1200" dirty="0"/>
          </a:p>
        </p:txBody>
      </p:sp>
      <p:sp>
        <p:nvSpPr>
          <p:cNvPr id="22" name="Text 20"/>
          <p:cNvSpPr/>
          <p:nvPr/>
        </p:nvSpPr>
        <p:spPr>
          <a:xfrm>
            <a:off x="8851900" y="3335021"/>
            <a:ext cx="2603119"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86EFAC"/>
                </a:solidFill>
                <a:latin typeface="Source Serif 4" pitchFamily="18" charset="0"/>
                <a:ea typeface="Source Serif 4" pitchFamily="18" charset="-122"/>
                <a:cs typeface="Source Serif 4" pitchFamily="18" charset="-120"/>
              </a:rPr>
              <a:t>≥ 70%</a:t>
            </a:r>
            <a:endParaRPr lang="en-US" sz="2800" dirty="0"/>
          </a:p>
        </p:txBody>
      </p:sp>
      <p:sp>
        <p:nvSpPr>
          <p:cNvPr id="23" name="Text 21"/>
          <p:cNvSpPr/>
          <p:nvPr/>
        </p:nvSpPr>
        <p:spPr>
          <a:xfrm>
            <a:off x="8851900" y="3858261"/>
            <a:ext cx="260311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E3"/>
                </a:solidFill>
                <a:latin typeface="IBM Plex Sans" pitchFamily="34" charset="0"/>
                <a:ea typeface="IBM Plex Sans" pitchFamily="34" charset="-122"/>
                <a:cs typeface="IBM Plex Sans" pitchFamily="34" charset="-120"/>
              </a:rPr>
              <a:t>answers rated helpful</a:t>
            </a:r>
            <a:endParaRPr lang="en-US" sz="1200" dirty="0"/>
          </a:p>
        </p:txBody>
      </p:sp>
      <p:sp>
        <p:nvSpPr>
          <p:cNvPr id="24" name="Text 22"/>
          <p:cNvSpPr/>
          <p:nvPr/>
        </p:nvSpPr>
        <p:spPr>
          <a:xfrm>
            <a:off x="812800" y="4376421"/>
            <a:ext cx="10566400" cy="579120"/>
          </a:xfrm>
          <a:prstGeom prst="roundRect">
            <a:avLst>
              <a:gd name="adj" fmla="val 17544"/>
            </a:avLst>
          </a:prstGeom>
          <a:solidFill>
            <a:srgbClr val="C7D2FE"/>
          </a:solidFill>
          <a:ln/>
        </p:spPr>
        <p:txBody>
          <a:bodyPr wrap="square" lIns="173442" tIns="122642" rIns="0" bIns="97242" rtlCol="0" anchor="t">
            <a:normAutofit/>
          </a:bodyPr>
          <a:lstStyle/>
          <a:p>
            <a:pPr algn="l" indent="0" marL="0">
              <a:lnSpc>
                <a:spcPts val="2160"/>
              </a:lnSpc>
              <a:buNone/>
            </a:pPr>
            <a:r>
              <a:rPr lang="en-US" sz="1600" b="1" dirty="0">
                <a:solidFill>
                  <a:srgbClr val="14213D"/>
                </a:solidFill>
                <a:latin typeface="IBM Plex Sans" pitchFamily="34" charset="0"/>
                <a:ea typeface="IBM Plex Sans" pitchFamily="34" charset="-122"/>
                <a:cs typeface="IBM Plex Sans" pitchFamily="34" charset="-120"/>
              </a:rPr>
              <a:t>The ask:</a:t>
            </a:r>
            <a:r>
              <a:rPr lang="en-US" sz="1600" dirty="0">
                <a:solidFill>
                  <a:srgbClr val="14213D"/>
                </a:solidFill>
                <a:latin typeface="IBM Plex Sans" pitchFamily="34" charset="0"/>
                <a:ea typeface="IBM Plex Sans" pitchFamily="34" charset="-122"/>
                <a:cs typeface="IBM Plex Sans" pitchFamily="34" charset="-120"/>
              </a:rPr>
              <a:t> approve a 4-week pilot. It proves customer value at low cost before any enterprise investment.</a:t>
            </a:r>
            <a:endParaRPr lang="en-US" sz="1600" dirty="0"/>
          </a:p>
        </p:txBody>
      </p:sp>
    </p:spTree>
  </p:cSld>
  <p:clrMapOvr>
    <a:masterClrMapping/>
  </p:clrMapOvr>
</p:sld>
</file>

<file path=ppt/theme/theme1.xml><?xml version="1.0" encoding="utf-8"?>
<a:theme xmlns:a="http://schemas.openxmlformats.org/drawingml/2006/main" name="AI Research Intelligence Assistant">
  <a:themeElements>
    <a:clrScheme name="AI Research Intelligence Assistant">
      <a:dk1>
        <a:srgbClr val="14213D"/>
      </a:dk1>
      <a:lt1>
        <a:srgbClr val="F7F6F2"/>
      </a:lt1>
      <a:dk2>
        <a:srgbClr val="4D566A"/>
      </a:dk2>
      <a:lt2>
        <a:srgbClr val="E0E1E0"/>
      </a:lt2>
      <a:accent1>
        <a:srgbClr val="4F46E5"/>
      </a:accent1>
      <a:accent2>
        <a:srgbClr val="A5B4FC"/>
      </a:accent2>
      <a:accent3>
        <a:srgbClr val="86EFAC"/>
      </a:accent3>
      <a:accent4>
        <a:srgbClr val="FEF3C7"/>
      </a:accent4>
      <a:accent5>
        <a:srgbClr val="5B4A1E"/>
      </a:accent5>
      <a:accent6>
        <a:srgbClr val="C7D2FE"/>
      </a:accent6>
      <a:hlink>
        <a:srgbClr val="0563C1"/>
      </a:hlink>
      <a:folHlink>
        <a:srgbClr val="954F72"/>
      </a:folHlink>
    </a:clrScheme>
    <a:fontScheme name="AI Research Intelligence Assistant">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Research Intelligence Assistant</dc:title>
  <dc:subject/>
  <dc:creator/>
  <cp:lastModifiedBy/>
  <cp:revision>1</cp:revision>
  <dcterms:created xsi:type="dcterms:W3CDTF">2026-10-02T23:07:18Z</dcterms:created>
  <dcterms:modified xsi:type="dcterms:W3CDTF">2026-10-02T23:07:18Z</dcterms:modified>
</cp:coreProperties>
</file>