
<file path=[Content_Types].xml><?xml version="1.0" encoding="utf-8"?>
<Types xmlns="http://schemas.openxmlformats.org/package/2006/content-types">
  <Default Extension="m4a" ContentType="audio/mp4"/>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7167" autoAdjust="0"/>
  </p:normalViewPr>
  <p:slideViewPr>
    <p:cSldViewPr snapToGrid="0" snapToObjects="1">
      <p:cViewPr varScale="1">
        <p:scale>
          <a:sx n="96" d="100"/>
          <a:sy n="96" d="100"/>
        </p:scale>
        <p:origin x="126"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84187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I'm going to show you an AI research assistant that lets customers ask questions across a company's research library and get answers they can verify. The key point up front: this isn't just a concept. What you see on the right is a screenshot of the working prototype, answering a real question from real reports, with the source page open and the evidence highlighted.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problem. The company has years of research, but it's published as PDFs. Finding something means opening reports one by one. Connecting information across reports or years, like how a view changed since 2022, means reading many documents. And building a full enterprise platform before we know customers value this would be a big bet. So the goal is to prove the value cheaply first.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it works for a user. They pick the libraries they're allowed to search, then ask in plain language. On the right is a real answer from the prototype. I asked what the BIS 2024 report says about how central banks can use AI. The answer is structured, and every sentence carries a citation chip, S1 to S4, pointing at specific pages of the report.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is the whole game here, so verification is one click. When I click citation S4, the actual PDF opens beside the answer at page 18 and highlights the exact sentence the claim relies on. Page references use the physical page in the file, not the printed number, because reports often use roman numerals or restart numbering. So the citation always lands on the right page.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hood, uploaded PDFs are split page by page and indexed for both meaning and keywords. Each question goes through three agents. The Query Agent plans the search and splits comparison questions into sub-queries. The Answer Agent writes only from the retrieved pages and must cite every claim. The Evaluator Agent then checks each claim against its cited page. If something is unsupported, the answer is rewritten once, and if it still fails it's flagged as low confidence. The stack is all managed services: React, FastAPI on Vercel, Supabase and DeepSeek.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Restricting access to authorised users was a core requirement. Accounts are invitation-only, and an admin decides which libraries each user can search, as on the right. Crucially, this is enforced inside the database with row-level security, not just hidden in the interface. Even if someone names another library directly, search returns nothing. PDFs sit in a private bucket and are served through short-lived links. There are 24 automated tests proving this.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know the answers are good? Every live answer gets the evaluator's grounded score, and users can rate it; admins see this on an Insights dashboard. Offline, there's an evaluation runner for an expert-written test set, with targets like 90% citation accuracy. Early numbers: 530 pages indexed, the test answers were fully grounded, around 20 to 30 seconds per answer, and under 4 cents of model cost per question. To be transparent, testing also found a weakness: reference lists can crowd out body text in search. The assistant declined instead of guessing, which is the right behaviour, and the fix is planned for week two of the client engagement.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what's next? I'm proposing a ten-week engagement with the client, built around a meeting every week. Each week we demo progress in the live prototype, review results together and agree the next priorities. Weeks one and two are kick-off and loading the client's own reports. Weeks three and four agree the test questions and access rules. Weeks five and six onboard users and time them against manual search. Weeks seven and eight improve from feedback. Weeks nine and ten review results against these targets and make the go/no-go decision. The ask today is to approve that engagement. Thank you, happy to take questions or show it live.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6F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61"/>
            <a:ext cx="10566400" cy="502920"/>
          </a:xfrm>
          <a:prstGeom prst="rect">
            <a:avLst/>
          </a:prstGeom>
          <a:noFill/>
          <a:ln/>
        </p:spPr>
        <p:txBody>
          <a:bodyPr wrap="square" lIns="0" tIns="0" rIns="0" bIns="0" rtlCol="0" anchor="t"/>
          <a:lstStyle>
            <a:lvl1pPr marL="0" indent="0" algn="l">
              <a:lnSpc>
                <a:spcPct val="115000"/>
              </a:lnSpc>
              <a:buNone/>
              <a:defRPr lang="en-US" sz="3600" dirty="0">
                <a:solidFill>
                  <a:srgbClr val="14213D"/>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35481"/>
            <a:ext cx="10566400" cy="4109719"/>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6F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61"/>
            <a:ext cx="10566400" cy="502920"/>
          </a:xfrm>
          <a:prstGeom prst="rect">
            <a:avLst/>
          </a:prstGeom>
          <a:noFill/>
          <a:ln/>
        </p:spPr>
        <p:txBody>
          <a:bodyPr wrap="square" lIns="0" tIns="0" rIns="0" bIns="0" rtlCol="0" anchor="t"/>
          <a:lstStyle>
            <a:lvl1pPr marL="0" indent="0" algn="l">
              <a:lnSpc>
                <a:spcPct val="115000"/>
              </a:lnSpc>
              <a:buNone/>
              <a:defRPr lang="en-US" sz="3600" dirty="0">
                <a:solidFill>
                  <a:srgbClr val="14213D"/>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35481"/>
            <a:ext cx="10566400" cy="4109719"/>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4a"/><Relationship Id="rId1" Type="http://schemas.microsoft.com/office/2007/relationships/media" Target="../media/media1.m4a"/><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2.xml"/><Relationship Id="rId7" Type="http://schemas.openxmlformats.org/officeDocument/2006/relationships/image" Target="../media/image5.png"/><Relationship Id="rId2" Type="http://schemas.openxmlformats.org/officeDocument/2006/relationships/audio" Target="../media/media2.m4a"/><Relationship Id="rId1" Type="http://schemas.microsoft.com/office/2007/relationships/media" Target="../media/media2.m4a"/><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3.m4a"/><Relationship Id="rId1" Type="http://schemas.microsoft.com/office/2007/relationships/media" Target="../media/media3.m4a"/><Relationship Id="rId6" Type="http://schemas.openxmlformats.org/officeDocument/2006/relationships/image" Target="../media/image2.png"/><Relationship Id="rId5" Type="http://schemas.openxmlformats.org/officeDocument/2006/relationships/image" Target="../media/image6.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4a"/><Relationship Id="rId1" Type="http://schemas.microsoft.com/office/2007/relationships/media" Target="../media/media4.m4a"/><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5.m4a"/><Relationship Id="rId1" Type="http://schemas.microsoft.com/office/2007/relationships/media" Target="../media/media5.m4a"/><Relationship Id="rId6" Type="http://schemas.openxmlformats.org/officeDocument/2006/relationships/image" Target="../media/image2.png"/><Relationship Id="rId5"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2.xml"/><Relationship Id="rId7" Type="http://schemas.openxmlformats.org/officeDocument/2006/relationships/image" Target="../media/image10.png"/><Relationship Id="rId2" Type="http://schemas.openxmlformats.org/officeDocument/2006/relationships/audio" Target="../media/media6.m4a"/><Relationship Id="rId1" Type="http://schemas.microsoft.com/office/2007/relationships/media" Target="../media/media6.m4a"/><Relationship Id="rId6" Type="http://schemas.openxmlformats.org/officeDocument/2006/relationships/image" Target="../media/image9.png"/><Relationship Id="rId5" Type="http://schemas.openxmlformats.org/officeDocument/2006/relationships/image" Target="../media/image8.png"/><Relationship Id="rId10" Type="http://schemas.openxmlformats.org/officeDocument/2006/relationships/image" Target="../media/image2.png"/><Relationship Id="rId4" Type="http://schemas.openxmlformats.org/officeDocument/2006/relationships/notesSlide" Target="../notesSlides/notesSlide6.xml"/><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7.m4a"/><Relationship Id="rId1" Type="http://schemas.microsoft.com/office/2007/relationships/media" Target="../media/media7.m4a"/><Relationship Id="rId5"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8.m4a"/><Relationship Id="rId1" Type="http://schemas.microsoft.com/office/2007/relationships/media" Target="../media/media8.m4a"/><Relationship Id="rId5" Type="http://schemas.openxmlformats.org/officeDocument/2006/relationships/image" Target="../media/image2.png"/><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1518920"/>
            <a:ext cx="4185920"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5B4FC"/>
                </a:solidFill>
                <a:latin typeface="IBM Plex Sans" pitchFamily="34" charset="0"/>
                <a:ea typeface="IBM Plex Sans" pitchFamily="34" charset="-122"/>
                <a:cs typeface="IBM Plex Sans" pitchFamily="34" charset="-120"/>
              </a:rPr>
              <a:t>CONCEPT PROPOSAL</a:t>
            </a:r>
            <a:endParaRPr lang="en-US" sz="1200" dirty="0"/>
          </a:p>
        </p:txBody>
      </p:sp>
      <p:sp>
        <p:nvSpPr>
          <p:cNvPr id="3" name="Text 1"/>
          <p:cNvSpPr>
            <a:spLocks noGrp="1"/>
          </p:cNvSpPr>
          <p:nvPr>
            <p:ph type="title"/>
          </p:nvPr>
        </p:nvSpPr>
        <p:spPr>
          <a:xfrm>
            <a:off x="812800" y="1935480"/>
            <a:ext cx="4185920" cy="1785620"/>
          </a:xfrm>
          <a:prstGeom prst="rect">
            <a:avLst/>
          </a:prstGeom>
          <a:noFill/>
          <a:ln/>
        </p:spPr>
        <p:txBody>
          <a:bodyPr wrap="square" lIns="0" tIns="0" rIns="0" bIns="0" rtlCol="0" anchor="t">
            <a:normAutofit/>
          </a:bodyPr>
          <a:lstStyle/>
          <a:p>
            <a:pPr marL="0" indent="0" algn="l">
              <a:lnSpc>
                <a:spcPts val="4620"/>
              </a:lnSpc>
              <a:buNone/>
            </a:pPr>
            <a:r>
              <a:rPr lang="en-US" sz="4400" b="1" i="0" dirty="0">
                <a:solidFill>
                  <a:srgbClr val="F7F6F2"/>
                </a:solidFill>
                <a:latin typeface="Source Serif 4" pitchFamily="18" charset="0"/>
                <a:ea typeface="Source Serif 4" pitchFamily="18" charset="-122"/>
                <a:cs typeface="Source Serif 4" pitchFamily="18" charset="-120"/>
              </a:rPr>
              <a:t>AI Research Intelligence Assistant</a:t>
            </a:r>
            <a:endParaRPr lang="en-US" sz="4400" dirty="0"/>
          </a:p>
        </p:txBody>
      </p:sp>
      <p:sp>
        <p:nvSpPr>
          <p:cNvPr id="4" name="Text 2"/>
          <p:cNvSpPr/>
          <p:nvPr/>
        </p:nvSpPr>
        <p:spPr>
          <a:xfrm>
            <a:off x="812800" y="3898900"/>
            <a:ext cx="4185920" cy="87884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1E3"/>
                </a:solidFill>
                <a:latin typeface="IBM Plex Sans" pitchFamily="34" charset="0"/>
                <a:ea typeface="IBM Plex Sans" pitchFamily="34" charset="-122"/>
                <a:cs typeface="IBM Plex Sans" pitchFamily="34" charset="-120"/>
              </a:rPr>
              <a:t>Ask questions across a company's research library. Get answers grounded in the reports, cited to the exact page.</a:t>
            </a:r>
            <a:endParaRPr lang="en-US" sz="1600" dirty="0"/>
          </a:p>
        </p:txBody>
      </p:sp>
      <p:sp>
        <p:nvSpPr>
          <p:cNvPr id="5" name="Text 3"/>
          <p:cNvSpPr/>
          <p:nvPr/>
        </p:nvSpPr>
        <p:spPr>
          <a:xfrm>
            <a:off x="812800" y="4955540"/>
            <a:ext cx="3556000" cy="383540"/>
          </a:xfrm>
          <a:prstGeom prst="roundRect">
            <a:avLst>
              <a:gd name="adj" fmla="val 50000"/>
            </a:avLst>
          </a:prstGeom>
          <a:solidFill>
            <a:srgbClr val="86EFAC"/>
          </a:solidFill>
          <a:ln/>
        </p:spPr>
        <p:txBody>
          <a:bodyPr wrap="square" lIns="47464" tIns="20032" rIns="47464" bIns="0" rtlCol="0" anchor="t">
            <a:normAutofit/>
          </a:bodyPr>
          <a:lstStyle/>
          <a:p>
            <a:pPr marL="0" indent="0" algn="ctr">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Working prototype, running today</a:t>
            </a:r>
            <a:endParaRPr lang="en-US" sz="1300" dirty="0"/>
          </a:p>
        </p:txBody>
      </p:sp>
      <p:pic>
        <p:nvPicPr>
          <p:cNvPr id="6" name="Image 0" descr="The prototype answering a question, with the cited PDF page open and the evidence highlighted"/>
          <p:cNvPicPr>
            <a:picLocks noChangeAspect="1"/>
          </p:cNvPicPr>
          <p:nvPr/>
        </p:nvPicPr>
        <p:blipFill>
          <a:blip r:embed="rId5"/>
          <a:srcRect l="-218" r="-218"/>
          <a:stretch/>
        </p:blipFill>
        <p:spPr>
          <a:xfrm>
            <a:off x="5295900" y="1898650"/>
            <a:ext cx="6070600" cy="3060700"/>
          </a:xfrm>
          <a:prstGeom prst="roundRect">
            <a:avLst>
              <a:gd name="adj" fmla="val 2905"/>
            </a:avLst>
          </a:prstGeom>
          <a:effectLst>
            <a:outerShdw blurRad="406400" dist="152400" dir="5400000" algn="bl" rotWithShape="0">
              <a:srgbClr val="000000">
                <a:alpha val="35000"/>
              </a:srgbClr>
            </a:outerShdw>
          </a:effectLst>
        </p:spPr>
      </p:pic>
      <p:sp>
        <p:nvSpPr>
          <p:cNvPr id="7" name="Shape 4"/>
          <p:cNvSpPr/>
          <p:nvPr/>
        </p:nvSpPr>
        <p:spPr>
          <a:xfrm>
            <a:off x="5289550" y="1892300"/>
            <a:ext cx="6083300" cy="3073400"/>
          </a:xfrm>
          <a:prstGeom prst="roundRect">
            <a:avLst>
              <a:gd name="adj" fmla="val 3099"/>
            </a:avLst>
          </a:prstGeom>
          <a:noFill/>
          <a:ln w="12700">
            <a:solidFill>
              <a:srgbClr val="2C3A5A"/>
            </a:solidFill>
            <a:prstDash val="solid"/>
          </a:ln>
        </p:spPr>
        <p:txBody>
          <a:bodyPr/>
          <a:lstStyle/>
          <a:p>
            <a:endParaRPr lang="en-MY"/>
          </a:p>
        </p:txBody>
      </p:sp>
      <p:pic>
        <p:nvPicPr>
          <p:cNvPr id="26" name="Audio 25">
            <a:hlinkClick r:id="" action="ppaction://media"/>
            <a:extLst>
              <a:ext uri="{FF2B5EF4-FFF2-40B4-BE49-F238E27FC236}">
                <a16:creationId xmlns:a16="http://schemas.microsoft.com/office/drawing/2014/main" id="{3AB56070-85B1-45A3-F8FD-42DE9B82D45E}"/>
              </a:ext>
            </a:extLst>
          </p:cNvPr>
          <p:cNvPicPr>
            <a:picLocks noChangeAspect="1"/>
          </p:cNvPicPr>
          <p:nvPr>
            <a:audioFile r:link="rId2"/>
            <p:extLst>
              <p:ext uri="{DAA4B4D4-6D71-4841-9C94-3DE7FCFB9230}">
                <p14:media xmlns:p14="http://schemas.microsoft.com/office/powerpoint/2010/main" r:embed="rId1"/>
              </p:ext>
            </p:extLst>
          </p:nvPr>
        </p:nvPicPr>
        <p:blipFill>
          <a:blip r:embed="rId6"/>
          <a:srcRect l="-118750" t="-118750" r="-118750" b="-118750"/>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26583"/>
    </mc:Choice>
    <mc:Fallback>
      <p:transition spd="slow" advTm="26583"/>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6"/>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4F46E5"/>
                </a:solidFill>
                <a:latin typeface="IBM Plex Sans" pitchFamily="34" charset="0"/>
                <a:ea typeface="IBM Plex Sans" pitchFamily="34" charset="-122"/>
                <a:cs typeface="IBM Plex Sans" pitchFamily="34" charset="-120"/>
              </a:rPr>
              <a:t>THE PROBLEM</a:t>
            </a:r>
            <a:endParaRPr lang="en-US" sz="1200" dirty="0"/>
          </a:p>
        </p:txBody>
      </p:sp>
      <p:sp>
        <p:nvSpPr>
          <p:cNvPr id="3" name="Text 1"/>
          <p:cNvSpPr>
            <a:spLocks noGrp="1"/>
          </p:cNvSpPr>
          <p:nvPr>
            <p:ph type="title"/>
          </p:nvPr>
        </p:nvSpPr>
        <p:spPr>
          <a:xfrm>
            <a:off x="812800" y="1127760"/>
            <a:ext cx="10883392" cy="103124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The research is valuable, but it's locked inside PDFs</a:t>
            </a:r>
            <a:endParaRPr lang="en-US" sz="3600" dirty="0"/>
          </a:p>
        </p:txBody>
      </p:sp>
      <p:sp>
        <p:nvSpPr>
          <p:cNvPr id="4" name="Shape 2"/>
          <p:cNvSpPr/>
          <p:nvPr/>
        </p:nvSpPr>
        <p:spPr>
          <a:xfrm>
            <a:off x="815975" y="2492375"/>
            <a:ext cx="3380317" cy="1845310"/>
          </a:xfrm>
          <a:prstGeom prst="roundRect">
            <a:avLst>
              <a:gd name="adj" fmla="val 5334"/>
            </a:avLst>
          </a:prstGeom>
          <a:solidFill>
            <a:srgbClr val="FFFFFF"/>
          </a:solidFill>
          <a:ln w="6350">
            <a:solidFill>
              <a:srgbClr val="E2E4EA"/>
            </a:solidFill>
            <a:prstDash val="solid"/>
          </a:ln>
        </p:spPr>
        <p:txBody>
          <a:bodyPr/>
          <a:lstStyle/>
          <a:p>
            <a:endParaRPr lang="en-MY"/>
          </a:p>
        </p:txBody>
      </p:sp>
      <p:pic>
        <p:nvPicPr>
          <p:cNvPr id="5" name="Image 0" descr="Search"/>
          <p:cNvPicPr>
            <a:picLocks noChangeAspect="1"/>
          </p:cNvPicPr>
          <p:nvPr/>
        </p:nvPicPr>
        <p:blipFill>
          <a:blip r:embed="rId5"/>
          <a:srcRect/>
          <a:stretch/>
        </p:blipFill>
        <p:spPr>
          <a:xfrm>
            <a:off x="1073150" y="2749550"/>
            <a:ext cx="355600" cy="355600"/>
          </a:xfrm>
          <a:prstGeom prst="rect">
            <a:avLst/>
          </a:prstGeom>
        </p:spPr>
      </p:pic>
      <p:sp>
        <p:nvSpPr>
          <p:cNvPr id="6" name="Text 3"/>
          <p:cNvSpPr/>
          <p:nvPr/>
        </p:nvSpPr>
        <p:spPr>
          <a:xfrm>
            <a:off x="1073150" y="3206750"/>
            <a:ext cx="2951946"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Slow to find</a:t>
            </a:r>
            <a:endParaRPr lang="en-US" sz="1800" dirty="0"/>
          </a:p>
        </p:txBody>
      </p:sp>
      <p:sp>
        <p:nvSpPr>
          <p:cNvPr id="7" name="Text 4"/>
          <p:cNvSpPr/>
          <p:nvPr/>
        </p:nvSpPr>
        <p:spPr>
          <a:xfrm>
            <a:off x="1073150" y="3582670"/>
            <a:ext cx="2951946"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Users open reports one by one and search inside each.</a:t>
            </a:r>
            <a:endParaRPr lang="en-US" sz="1400" dirty="0"/>
          </a:p>
        </p:txBody>
      </p:sp>
      <p:sp>
        <p:nvSpPr>
          <p:cNvPr id="8" name="Shape 5"/>
          <p:cNvSpPr/>
          <p:nvPr/>
        </p:nvSpPr>
        <p:spPr>
          <a:xfrm>
            <a:off x="4405842" y="2492375"/>
            <a:ext cx="3380317" cy="1845310"/>
          </a:xfrm>
          <a:prstGeom prst="roundRect">
            <a:avLst>
              <a:gd name="adj" fmla="val 5334"/>
            </a:avLst>
          </a:prstGeom>
          <a:solidFill>
            <a:srgbClr val="FFFFFF"/>
          </a:solidFill>
          <a:ln w="6350">
            <a:solidFill>
              <a:srgbClr val="E2E4EA"/>
            </a:solidFill>
            <a:prstDash val="solid"/>
          </a:ln>
        </p:spPr>
        <p:txBody>
          <a:bodyPr/>
          <a:lstStyle/>
          <a:p>
            <a:endParaRPr lang="en-MY"/>
          </a:p>
        </p:txBody>
      </p:sp>
      <p:pic>
        <p:nvPicPr>
          <p:cNvPr id="9" name="Image 1" descr="Link"/>
          <p:cNvPicPr>
            <a:picLocks noChangeAspect="1"/>
          </p:cNvPicPr>
          <p:nvPr/>
        </p:nvPicPr>
        <p:blipFill>
          <a:blip r:embed="rId6"/>
          <a:srcRect/>
          <a:stretch/>
        </p:blipFill>
        <p:spPr>
          <a:xfrm>
            <a:off x="4663017" y="2749550"/>
            <a:ext cx="355600" cy="355600"/>
          </a:xfrm>
          <a:prstGeom prst="rect">
            <a:avLst/>
          </a:prstGeom>
        </p:spPr>
      </p:pic>
      <p:sp>
        <p:nvSpPr>
          <p:cNvPr id="10" name="Text 6"/>
          <p:cNvSpPr/>
          <p:nvPr/>
        </p:nvSpPr>
        <p:spPr>
          <a:xfrm>
            <a:off x="4663017" y="3206750"/>
            <a:ext cx="2951946"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Hard to connect</a:t>
            </a:r>
            <a:endParaRPr lang="en-US" sz="1800" dirty="0"/>
          </a:p>
        </p:txBody>
      </p:sp>
      <p:sp>
        <p:nvSpPr>
          <p:cNvPr id="11" name="Text 7"/>
          <p:cNvSpPr/>
          <p:nvPr/>
        </p:nvSpPr>
        <p:spPr>
          <a:xfrm>
            <a:off x="4663017" y="3582670"/>
            <a:ext cx="2951946"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Questions across reports and years mean reading many documents.</a:t>
            </a:r>
            <a:endParaRPr lang="en-US" sz="1400" dirty="0"/>
          </a:p>
        </p:txBody>
      </p:sp>
      <p:sp>
        <p:nvSpPr>
          <p:cNvPr id="12" name="Shape 8"/>
          <p:cNvSpPr/>
          <p:nvPr/>
        </p:nvSpPr>
        <p:spPr>
          <a:xfrm>
            <a:off x="7995708" y="2492375"/>
            <a:ext cx="3380317" cy="1845310"/>
          </a:xfrm>
          <a:prstGeom prst="roundRect">
            <a:avLst>
              <a:gd name="adj" fmla="val 5334"/>
            </a:avLst>
          </a:prstGeom>
          <a:solidFill>
            <a:srgbClr val="FFFFFF"/>
          </a:solidFill>
          <a:ln w="6350">
            <a:solidFill>
              <a:srgbClr val="E2E4EA"/>
            </a:solidFill>
            <a:prstDash val="solid"/>
          </a:ln>
        </p:spPr>
        <p:txBody>
          <a:bodyPr/>
          <a:lstStyle/>
          <a:p>
            <a:endParaRPr lang="en-MY"/>
          </a:p>
        </p:txBody>
      </p:sp>
      <p:pic>
        <p:nvPicPr>
          <p:cNvPr id="13" name="Image 2" descr="Warning"/>
          <p:cNvPicPr>
            <a:picLocks noChangeAspect="1"/>
          </p:cNvPicPr>
          <p:nvPr/>
        </p:nvPicPr>
        <p:blipFill>
          <a:blip r:embed="rId7"/>
          <a:srcRect/>
          <a:stretch/>
        </p:blipFill>
        <p:spPr>
          <a:xfrm>
            <a:off x="8252883" y="2749550"/>
            <a:ext cx="355600" cy="355600"/>
          </a:xfrm>
          <a:prstGeom prst="rect">
            <a:avLst/>
          </a:prstGeom>
        </p:spPr>
      </p:pic>
      <p:sp>
        <p:nvSpPr>
          <p:cNvPr id="14" name="Text 9"/>
          <p:cNvSpPr/>
          <p:nvPr/>
        </p:nvSpPr>
        <p:spPr>
          <a:xfrm>
            <a:off x="8252883" y="3206750"/>
            <a:ext cx="2951946"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Costly to commit</a:t>
            </a:r>
            <a:endParaRPr lang="en-US" sz="1800" dirty="0"/>
          </a:p>
        </p:txBody>
      </p:sp>
      <p:sp>
        <p:nvSpPr>
          <p:cNvPr id="15" name="Text 10"/>
          <p:cNvSpPr/>
          <p:nvPr/>
        </p:nvSpPr>
        <p:spPr>
          <a:xfrm>
            <a:off x="8252883" y="3582670"/>
            <a:ext cx="2951946"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A full enterprise platform is a big bet before value is proven.</a:t>
            </a:r>
            <a:endParaRPr lang="en-US" sz="1400" dirty="0"/>
          </a:p>
        </p:txBody>
      </p:sp>
      <p:sp>
        <p:nvSpPr>
          <p:cNvPr id="16" name="Shape 11"/>
          <p:cNvSpPr/>
          <p:nvPr/>
        </p:nvSpPr>
        <p:spPr>
          <a:xfrm>
            <a:off x="831850" y="4696460"/>
            <a:ext cx="0" cy="670560"/>
          </a:xfrm>
          <a:prstGeom prst="line">
            <a:avLst/>
          </a:prstGeom>
          <a:noFill/>
          <a:ln w="38100">
            <a:solidFill>
              <a:srgbClr val="4F46E5"/>
            </a:solidFill>
            <a:prstDash val="solid"/>
          </a:ln>
        </p:spPr>
        <p:txBody>
          <a:bodyPr/>
          <a:lstStyle/>
          <a:p>
            <a:endParaRPr lang="en-MY"/>
          </a:p>
        </p:txBody>
      </p:sp>
      <p:sp>
        <p:nvSpPr>
          <p:cNvPr id="17" name="Text 12"/>
          <p:cNvSpPr/>
          <p:nvPr/>
        </p:nvSpPr>
        <p:spPr>
          <a:xfrm>
            <a:off x="1028700" y="4747260"/>
            <a:ext cx="10661015" cy="5943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Goal:</a:t>
            </a:r>
            <a:r>
              <a:rPr lang="en-US" sz="1600" dirty="0">
                <a:solidFill>
                  <a:srgbClr val="14213D"/>
                </a:solidFill>
                <a:latin typeface="IBM Plex Sans" pitchFamily="34" charset="0"/>
                <a:ea typeface="IBM Plex Sans" pitchFamily="34" charset="-122"/>
                <a:cs typeface="IBM Plex Sans" pitchFamily="34" charset="-120"/>
              </a:rPr>
              <a:t> prove that customers get faster, trustworthy answers from the research they already have, before a larger investment.</a:t>
            </a:r>
            <a:endParaRPr lang="en-US" sz="1600" dirty="0"/>
          </a:p>
        </p:txBody>
      </p:sp>
      <p:pic>
        <p:nvPicPr>
          <p:cNvPr id="24" name="Audio 23">
            <a:hlinkClick r:id="" action="ppaction://media"/>
            <a:extLst>
              <a:ext uri="{FF2B5EF4-FFF2-40B4-BE49-F238E27FC236}">
                <a16:creationId xmlns:a16="http://schemas.microsoft.com/office/drawing/2014/main" id="{53E3D558-58D5-2ADC-DCA2-2C10326AF7CB}"/>
              </a:ext>
            </a:extLst>
          </p:cNvPr>
          <p:cNvPicPr>
            <a:picLocks noChangeAspect="1"/>
          </p:cNvPicPr>
          <p:nvPr>
            <a:audioFile r:link="rId2"/>
            <p:extLst>
              <p:ext uri="{DAA4B4D4-6D71-4841-9C94-3DE7FCFB9230}">
                <p14:media xmlns:p14="http://schemas.microsoft.com/office/powerpoint/2010/main" r:embed="rId1"/>
              </p:ext>
            </p:extLst>
          </p:nvPr>
        </p:nvPicPr>
        <p:blipFill>
          <a:blip r:embed="rId8"/>
          <a:srcRect l="-118750" t="-118750" r="-118750" b="-118750"/>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25213"/>
    </mc:Choice>
    <mc:Fallback>
      <p:transition spd="slow" advTm="25213"/>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4"/>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F0F6"/>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4F46E5"/>
                </a:solidFill>
                <a:latin typeface="IBM Plex Sans" pitchFamily="34" charset="0"/>
                <a:ea typeface="IBM Plex Sans" pitchFamily="34" charset="-122"/>
                <a:cs typeface="IBM Plex Sans" pitchFamily="34" charset="-120"/>
              </a:rPr>
              <a:t>THE SOLUTION</a:t>
            </a:r>
            <a:endParaRPr lang="en-US" sz="1200" dirty="0"/>
          </a:p>
        </p:txBody>
      </p:sp>
      <p:sp>
        <p:nvSpPr>
          <p:cNvPr id="3" name="Text 1"/>
          <p:cNvSpPr>
            <a:spLocks noGrp="1"/>
          </p:cNvSpPr>
          <p:nvPr>
            <p:ph type="title"/>
          </p:nvPr>
        </p:nvSpPr>
        <p:spPr>
          <a:xfrm>
            <a:off x="812800" y="1127761"/>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Ask the library, get a cited answer</a:t>
            </a:r>
            <a:endParaRPr lang="en-US" sz="3600" dirty="0"/>
          </a:p>
        </p:txBody>
      </p:sp>
      <p:sp>
        <p:nvSpPr>
          <p:cNvPr id="4" name="Shape 2"/>
          <p:cNvSpPr/>
          <p:nvPr/>
        </p:nvSpPr>
        <p:spPr>
          <a:xfrm>
            <a:off x="812800" y="1935480"/>
            <a:ext cx="3175000" cy="1099820"/>
          </a:xfrm>
          <a:prstGeom prst="roundRect">
            <a:avLst>
              <a:gd name="adj" fmla="val 9238"/>
            </a:avLst>
          </a:prstGeom>
          <a:solidFill>
            <a:srgbClr val="FFFFFF"/>
          </a:solidFill>
          <a:ln/>
        </p:spPr>
        <p:txBody>
          <a:bodyPr/>
          <a:lstStyle/>
          <a:p>
            <a:endParaRPr lang="en-MY"/>
          </a:p>
        </p:txBody>
      </p:sp>
      <p:sp>
        <p:nvSpPr>
          <p:cNvPr id="5" name="Text 3"/>
          <p:cNvSpPr/>
          <p:nvPr/>
        </p:nvSpPr>
        <p:spPr>
          <a:xfrm>
            <a:off x="1016000" y="2113280"/>
            <a:ext cx="2851658"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4F46E5"/>
                </a:solidFill>
                <a:latin typeface="IBM Plex Sans" pitchFamily="34" charset="0"/>
                <a:ea typeface="IBM Plex Sans" pitchFamily="34" charset="-122"/>
                <a:cs typeface="IBM Plex Sans" pitchFamily="34" charset="-120"/>
              </a:rPr>
              <a:t>1 · Choose libraries</a:t>
            </a:r>
            <a:endParaRPr lang="en-US" sz="1200" dirty="0"/>
          </a:p>
        </p:txBody>
      </p:sp>
      <p:sp>
        <p:nvSpPr>
          <p:cNvPr id="6" name="Text 4"/>
          <p:cNvSpPr/>
          <p:nvPr/>
        </p:nvSpPr>
        <p:spPr>
          <a:xfrm>
            <a:off x="1016000" y="2377439"/>
            <a:ext cx="2851658" cy="50546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5568"/>
                </a:solidFill>
                <a:latin typeface="IBM Plex Sans" pitchFamily="34" charset="0"/>
                <a:ea typeface="IBM Plex Sans" pitchFamily="34" charset="-122"/>
                <a:cs typeface="IBM Plex Sans" pitchFamily="34" charset="-120"/>
              </a:rPr>
              <a:t>One company's research or several.</a:t>
            </a:r>
            <a:endParaRPr lang="en-US" sz="1400" dirty="0"/>
          </a:p>
        </p:txBody>
      </p:sp>
      <p:sp>
        <p:nvSpPr>
          <p:cNvPr id="7" name="Shape 5"/>
          <p:cNvSpPr/>
          <p:nvPr/>
        </p:nvSpPr>
        <p:spPr>
          <a:xfrm>
            <a:off x="812800" y="3213100"/>
            <a:ext cx="3175000" cy="1099820"/>
          </a:xfrm>
          <a:prstGeom prst="roundRect">
            <a:avLst>
              <a:gd name="adj" fmla="val 9238"/>
            </a:avLst>
          </a:prstGeom>
          <a:solidFill>
            <a:srgbClr val="FFFFFF"/>
          </a:solidFill>
          <a:ln/>
        </p:spPr>
        <p:txBody>
          <a:bodyPr/>
          <a:lstStyle/>
          <a:p>
            <a:endParaRPr lang="en-MY"/>
          </a:p>
        </p:txBody>
      </p:sp>
      <p:sp>
        <p:nvSpPr>
          <p:cNvPr id="8" name="Text 6"/>
          <p:cNvSpPr/>
          <p:nvPr/>
        </p:nvSpPr>
        <p:spPr>
          <a:xfrm>
            <a:off x="1016000" y="3390900"/>
            <a:ext cx="2851658"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4F46E5"/>
                </a:solidFill>
                <a:latin typeface="IBM Plex Sans" pitchFamily="34" charset="0"/>
                <a:ea typeface="IBM Plex Sans" pitchFamily="34" charset="-122"/>
                <a:cs typeface="IBM Plex Sans" pitchFamily="34" charset="-120"/>
              </a:rPr>
              <a:t>2 · Ask in plain language</a:t>
            </a:r>
            <a:endParaRPr lang="en-US" sz="1200" dirty="0"/>
          </a:p>
        </p:txBody>
      </p:sp>
      <p:sp>
        <p:nvSpPr>
          <p:cNvPr id="9" name="Text 7"/>
          <p:cNvSpPr/>
          <p:nvPr/>
        </p:nvSpPr>
        <p:spPr>
          <a:xfrm>
            <a:off x="1016000" y="3655061"/>
            <a:ext cx="2851658" cy="50546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5568"/>
                </a:solidFill>
                <a:latin typeface="IBM Plex Sans" pitchFamily="34" charset="0"/>
                <a:ea typeface="IBM Plex Sans" pitchFamily="34" charset="-122"/>
                <a:cs typeface="IBM Plex Sans" pitchFamily="34" charset="-120"/>
              </a:rPr>
              <a:t>The answer streams in, citing every claim.</a:t>
            </a:r>
            <a:endParaRPr lang="en-US" sz="1400" dirty="0"/>
          </a:p>
        </p:txBody>
      </p:sp>
      <p:sp>
        <p:nvSpPr>
          <p:cNvPr id="10" name="Shape 8"/>
          <p:cNvSpPr/>
          <p:nvPr/>
        </p:nvSpPr>
        <p:spPr>
          <a:xfrm>
            <a:off x="812800" y="4490720"/>
            <a:ext cx="3175000" cy="1099820"/>
          </a:xfrm>
          <a:prstGeom prst="roundRect">
            <a:avLst>
              <a:gd name="adj" fmla="val 9238"/>
            </a:avLst>
          </a:prstGeom>
          <a:solidFill>
            <a:srgbClr val="FFFFFF"/>
          </a:solidFill>
          <a:ln/>
        </p:spPr>
        <p:txBody>
          <a:bodyPr/>
          <a:lstStyle/>
          <a:p>
            <a:endParaRPr lang="en-MY"/>
          </a:p>
        </p:txBody>
      </p:sp>
      <p:sp>
        <p:nvSpPr>
          <p:cNvPr id="11" name="Text 9"/>
          <p:cNvSpPr/>
          <p:nvPr/>
        </p:nvSpPr>
        <p:spPr>
          <a:xfrm>
            <a:off x="1016000" y="4668520"/>
            <a:ext cx="2851658"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4F46E5"/>
                </a:solidFill>
                <a:latin typeface="IBM Plex Sans" pitchFamily="34" charset="0"/>
                <a:ea typeface="IBM Plex Sans" pitchFamily="34" charset="-122"/>
                <a:cs typeface="IBM Plex Sans" pitchFamily="34" charset="-120"/>
              </a:rPr>
              <a:t>3 · Verify in one click</a:t>
            </a:r>
            <a:endParaRPr lang="en-US" sz="1200" dirty="0"/>
          </a:p>
        </p:txBody>
      </p:sp>
      <p:sp>
        <p:nvSpPr>
          <p:cNvPr id="12" name="Text 10"/>
          <p:cNvSpPr/>
          <p:nvPr/>
        </p:nvSpPr>
        <p:spPr>
          <a:xfrm>
            <a:off x="1016000" y="4932680"/>
            <a:ext cx="2851658" cy="50546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5568"/>
                </a:solidFill>
                <a:latin typeface="IBM Plex Sans" pitchFamily="34" charset="0"/>
                <a:ea typeface="IBM Plex Sans" pitchFamily="34" charset="-122"/>
                <a:cs typeface="IBM Plex Sans" pitchFamily="34" charset="-120"/>
              </a:rPr>
              <a:t>Each citation opens the exact page.</a:t>
            </a:r>
            <a:endParaRPr lang="en-US" sz="1400" dirty="0"/>
          </a:p>
        </p:txBody>
      </p:sp>
      <p:sp>
        <p:nvSpPr>
          <p:cNvPr id="13" name="Shape 11"/>
          <p:cNvSpPr/>
          <p:nvPr/>
        </p:nvSpPr>
        <p:spPr>
          <a:xfrm>
            <a:off x="4343400" y="1935480"/>
            <a:ext cx="7035800" cy="3562350"/>
          </a:xfrm>
          <a:prstGeom prst="roundRect">
            <a:avLst>
              <a:gd name="adj" fmla="val 2852"/>
            </a:avLst>
          </a:prstGeom>
          <a:solidFill>
            <a:srgbClr val="FFFFFF"/>
          </a:solidFill>
          <a:ln/>
          <a:effectLst>
            <a:outerShdw blurRad="254000" dist="101600" dir="5400000" algn="bl" rotWithShape="0">
              <a:srgbClr val="14213D">
                <a:alpha val="12000"/>
              </a:srgbClr>
            </a:outerShdw>
          </a:effectLst>
        </p:spPr>
        <p:txBody>
          <a:bodyPr/>
          <a:lstStyle/>
          <a:p>
            <a:endParaRPr lang="en-MY"/>
          </a:p>
        </p:txBody>
      </p:sp>
      <p:pic>
        <p:nvPicPr>
          <p:cNvPr id="14" name="Image 0" descr="Prototype answer to a question about how central banks can use AI, citing four pages of the BIS 2024 report"/>
          <p:cNvPicPr>
            <a:picLocks noChangeAspect="1"/>
          </p:cNvPicPr>
          <p:nvPr/>
        </p:nvPicPr>
        <p:blipFill>
          <a:blip r:embed="rId5"/>
          <a:srcRect l="-94" r="-94"/>
          <a:stretch/>
        </p:blipFill>
        <p:spPr>
          <a:xfrm>
            <a:off x="4349750" y="1941830"/>
            <a:ext cx="7023100" cy="3549650"/>
          </a:xfrm>
          <a:prstGeom prst="roundRect">
            <a:avLst>
              <a:gd name="adj" fmla="val 2683"/>
            </a:avLst>
          </a:prstGeom>
        </p:spPr>
      </p:pic>
      <p:sp>
        <p:nvSpPr>
          <p:cNvPr id="15" name="Shape 12"/>
          <p:cNvSpPr/>
          <p:nvPr/>
        </p:nvSpPr>
        <p:spPr>
          <a:xfrm>
            <a:off x="4346575" y="1938655"/>
            <a:ext cx="7029450" cy="3556000"/>
          </a:xfrm>
          <a:prstGeom prst="roundRect">
            <a:avLst>
              <a:gd name="adj" fmla="val 2768"/>
            </a:avLst>
          </a:prstGeom>
          <a:noFill/>
          <a:ln w="6350">
            <a:solidFill>
              <a:srgbClr val="D5D9E3"/>
            </a:solidFill>
            <a:prstDash val="solid"/>
          </a:ln>
        </p:spPr>
        <p:txBody>
          <a:bodyPr/>
          <a:lstStyle/>
          <a:p>
            <a:endParaRPr lang="en-MY"/>
          </a:p>
        </p:txBody>
      </p:sp>
      <p:pic>
        <p:nvPicPr>
          <p:cNvPr id="33" name="Audio 32">
            <a:hlinkClick r:id="" action="ppaction://media"/>
            <a:extLst>
              <a:ext uri="{FF2B5EF4-FFF2-40B4-BE49-F238E27FC236}">
                <a16:creationId xmlns:a16="http://schemas.microsoft.com/office/drawing/2014/main" id="{F1FB9480-579F-EB80-567C-48F20D57A48B}"/>
              </a:ext>
            </a:extLst>
          </p:cNvPr>
          <p:cNvPicPr>
            <a:picLocks noChangeAspect="1"/>
          </p:cNvPicPr>
          <p:nvPr>
            <a:audioFile r:link="rId2"/>
            <p:extLst>
              <p:ext uri="{DAA4B4D4-6D71-4841-9C94-3DE7FCFB9230}">
                <p14:media xmlns:p14="http://schemas.microsoft.com/office/powerpoint/2010/main" r:embed="rId1"/>
              </p:ext>
            </p:extLst>
          </p:nvPr>
        </p:nvPicPr>
        <p:blipFill>
          <a:blip r:embed="rId6"/>
          <a:srcRect l="-118750" t="-118750" r="-118750" b="-118750"/>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23131"/>
    </mc:Choice>
    <mc:Fallback>
      <p:transition spd="slow" advTm="23131"/>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33"/>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13D"/>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2402343" y="609600"/>
            <a:ext cx="7387209" cy="528320"/>
          </a:xfrm>
          <a:prstGeom prst="rect">
            <a:avLst/>
          </a:prstGeom>
          <a:noFill/>
          <a:ln/>
        </p:spPr>
        <p:txBody>
          <a:bodyPr wrap="square" lIns="0" tIns="0" rIns="0" bIns="0" rtlCol="0" anchor="t">
            <a:normAutofit/>
          </a:bodyPr>
          <a:lstStyle/>
          <a:p>
            <a:pPr marL="0" indent="0" algn="ctr">
              <a:lnSpc>
                <a:spcPts val="3960"/>
              </a:lnSpc>
              <a:buNone/>
            </a:pPr>
            <a:r>
              <a:rPr lang="en-US" sz="3600" b="1" i="0" dirty="0">
                <a:solidFill>
                  <a:srgbClr val="F7F6F2"/>
                </a:solidFill>
                <a:latin typeface="Source Serif 4" pitchFamily="18" charset="0"/>
                <a:ea typeface="Source Serif 4" pitchFamily="18" charset="-122"/>
                <a:cs typeface="Source Serif 4" pitchFamily="18" charset="-120"/>
              </a:rPr>
              <a:t>Every claim links to its page</a:t>
            </a:r>
            <a:endParaRPr lang="en-US" sz="3600" dirty="0"/>
          </a:p>
        </p:txBody>
      </p:sp>
      <p:pic>
        <p:nvPicPr>
          <p:cNvPr id="3" name="Image 0" descr="Citation S4 opened in the PDF viewer at page 18 of 150, with the supporting sentence highlighted in yellow"/>
          <p:cNvPicPr>
            <a:picLocks noChangeAspect="1"/>
          </p:cNvPicPr>
          <p:nvPr/>
        </p:nvPicPr>
        <p:blipFill>
          <a:blip r:embed="rId5"/>
          <a:srcRect l="-113" r="-113"/>
          <a:stretch/>
        </p:blipFill>
        <p:spPr>
          <a:xfrm>
            <a:off x="1854200" y="1328420"/>
            <a:ext cx="8483600" cy="4286250"/>
          </a:xfrm>
          <a:prstGeom prst="roundRect">
            <a:avLst>
              <a:gd name="adj" fmla="val 2074"/>
            </a:avLst>
          </a:prstGeom>
        </p:spPr>
      </p:pic>
      <p:sp>
        <p:nvSpPr>
          <p:cNvPr id="4" name="Shape 1"/>
          <p:cNvSpPr/>
          <p:nvPr/>
        </p:nvSpPr>
        <p:spPr>
          <a:xfrm>
            <a:off x="1847850" y="1322070"/>
            <a:ext cx="8496300" cy="4298950"/>
          </a:xfrm>
          <a:prstGeom prst="roundRect">
            <a:avLst>
              <a:gd name="adj" fmla="val 2216"/>
            </a:avLst>
          </a:prstGeom>
          <a:noFill/>
          <a:ln w="12700">
            <a:solidFill>
              <a:srgbClr val="2C3A5A"/>
            </a:solidFill>
            <a:prstDash val="solid"/>
          </a:ln>
        </p:spPr>
        <p:txBody>
          <a:bodyPr/>
          <a:lstStyle/>
          <a:p>
            <a:endParaRPr lang="en-MY"/>
          </a:p>
        </p:txBody>
      </p:sp>
      <p:sp>
        <p:nvSpPr>
          <p:cNvPr id="5" name="Text 2"/>
          <p:cNvSpPr/>
          <p:nvPr/>
        </p:nvSpPr>
        <p:spPr>
          <a:xfrm>
            <a:off x="1657995" y="5830571"/>
            <a:ext cx="8875903" cy="274320"/>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C9D1E3"/>
                </a:solidFill>
                <a:latin typeface="IBM Plex Sans" pitchFamily="34" charset="0"/>
                <a:ea typeface="IBM Plex Sans" pitchFamily="34" charset="-122"/>
                <a:cs typeface="IBM Plex Sans" pitchFamily="34" charset="-120"/>
              </a:rPr>
              <a:t>Clicking citation S4 opens the BIS 2024 report at page 18 of 150 and highlights the evidence.</a:t>
            </a:r>
            <a:endParaRPr lang="en-US" sz="1400" dirty="0"/>
          </a:p>
        </p:txBody>
      </p:sp>
      <p:pic>
        <p:nvPicPr>
          <p:cNvPr id="14" name="Audio 13">
            <a:hlinkClick r:id="" action="ppaction://media"/>
            <a:extLst>
              <a:ext uri="{FF2B5EF4-FFF2-40B4-BE49-F238E27FC236}">
                <a16:creationId xmlns:a16="http://schemas.microsoft.com/office/drawing/2014/main" id="{D6FF7689-9FB1-0E7C-6952-D645799832F6}"/>
              </a:ext>
            </a:extLst>
          </p:cNvPr>
          <p:cNvPicPr>
            <a:picLocks noChangeAspect="1"/>
          </p:cNvPicPr>
          <p:nvPr>
            <a:audioFile r:link="rId2"/>
            <p:extLst>
              <p:ext uri="{DAA4B4D4-6D71-4841-9C94-3DE7FCFB9230}">
                <p14:media xmlns:p14="http://schemas.microsoft.com/office/powerpoint/2010/main" r:embed="rId1"/>
              </p:ext>
            </p:extLst>
          </p:nvPr>
        </p:nvPicPr>
        <p:blipFill>
          <a:blip r:embed="rId6"/>
          <a:srcRect l="-118750" t="-118750" r="-118750" b="-118750"/>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23365"/>
    </mc:Choice>
    <mc:Fallback>
      <p:transition spd="slow" advTm="23365"/>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4"/>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4F46E5"/>
                </a:solidFill>
                <a:latin typeface="IBM Plex Sans" pitchFamily="34" charset="0"/>
                <a:ea typeface="IBM Plex Sans" pitchFamily="34" charset="-122"/>
                <a:cs typeface="IBM Plex Sans" pitchFamily="34" charset="-120"/>
              </a:rPr>
              <a:t>HOW IT WORKS</a:t>
            </a:r>
            <a:endParaRPr lang="en-US" sz="1200" dirty="0"/>
          </a:p>
        </p:txBody>
      </p:sp>
      <p:sp>
        <p:nvSpPr>
          <p:cNvPr id="3" name="Text 1"/>
          <p:cNvSpPr>
            <a:spLocks noGrp="1"/>
          </p:cNvSpPr>
          <p:nvPr>
            <p:ph type="title"/>
          </p:nvPr>
        </p:nvSpPr>
        <p:spPr>
          <a:xfrm>
            <a:off x="812800" y="1127761"/>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Three agents, and every answer is checked</a:t>
            </a:r>
            <a:endParaRPr lang="en-US" sz="3600" dirty="0"/>
          </a:p>
        </p:txBody>
      </p:sp>
      <p:sp>
        <p:nvSpPr>
          <p:cNvPr id="4" name="Shape 2"/>
          <p:cNvSpPr/>
          <p:nvPr/>
        </p:nvSpPr>
        <p:spPr>
          <a:xfrm>
            <a:off x="812800" y="1935479"/>
            <a:ext cx="1727200" cy="802640"/>
          </a:xfrm>
          <a:prstGeom prst="roundRect">
            <a:avLst>
              <a:gd name="adj" fmla="val 12658"/>
            </a:avLst>
          </a:prstGeom>
          <a:solidFill>
            <a:srgbClr val="E0E7FF"/>
          </a:solidFill>
          <a:ln/>
        </p:spPr>
        <p:txBody>
          <a:bodyPr/>
          <a:lstStyle/>
          <a:p>
            <a:endParaRPr lang="en-MY"/>
          </a:p>
        </p:txBody>
      </p:sp>
      <p:sp>
        <p:nvSpPr>
          <p:cNvPr id="5" name="Text 3"/>
          <p:cNvSpPr/>
          <p:nvPr/>
        </p:nvSpPr>
        <p:spPr>
          <a:xfrm>
            <a:off x="965200" y="2087879"/>
            <a:ext cx="147320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Question</a:t>
            </a:r>
            <a:endParaRPr lang="en-US" sz="1400" dirty="0"/>
          </a:p>
        </p:txBody>
      </p:sp>
      <p:sp>
        <p:nvSpPr>
          <p:cNvPr id="6" name="Text 4"/>
          <p:cNvSpPr/>
          <p:nvPr/>
        </p:nvSpPr>
        <p:spPr>
          <a:xfrm>
            <a:off x="965200" y="2387600"/>
            <a:ext cx="1574800"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3B4A6B"/>
                </a:solidFill>
                <a:latin typeface="IBM Plex Sans" pitchFamily="34" charset="0"/>
                <a:ea typeface="IBM Plex Sans" pitchFamily="34" charset="-122"/>
                <a:cs typeface="IBM Plex Sans" pitchFamily="34" charset="-120"/>
              </a:rPr>
              <a:t>plus chosen libraries</a:t>
            </a:r>
            <a:endParaRPr lang="en-US" sz="1200" dirty="0"/>
          </a:p>
        </p:txBody>
      </p:sp>
      <p:pic>
        <p:nvPicPr>
          <p:cNvPr id="7" name="Image 0" descr="arrow-right"/>
          <p:cNvPicPr>
            <a:picLocks noChangeAspect="1"/>
          </p:cNvPicPr>
          <p:nvPr/>
        </p:nvPicPr>
        <p:blipFill>
          <a:blip r:embed="rId5"/>
          <a:srcRect/>
          <a:stretch/>
        </p:blipFill>
        <p:spPr>
          <a:xfrm>
            <a:off x="2641600" y="2260600"/>
            <a:ext cx="279400" cy="152400"/>
          </a:xfrm>
          <a:prstGeom prst="rect">
            <a:avLst/>
          </a:prstGeom>
        </p:spPr>
      </p:pic>
      <p:sp>
        <p:nvSpPr>
          <p:cNvPr id="8" name="Shape 5"/>
          <p:cNvSpPr/>
          <p:nvPr/>
        </p:nvSpPr>
        <p:spPr>
          <a:xfrm>
            <a:off x="3022600" y="1935479"/>
            <a:ext cx="1727200" cy="802640"/>
          </a:xfrm>
          <a:prstGeom prst="roundRect">
            <a:avLst>
              <a:gd name="adj" fmla="val 12658"/>
            </a:avLst>
          </a:prstGeom>
          <a:solidFill>
            <a:srgbClr val="FEF3C7"/>
          </a:solidFill>
          <a:ln/>
        </p:spPr>
        <p:txBody>
          <a:bodyPr/>
          <a:lstStyle/>
          <a:p>
            <a:endParaRPr lang="en-MY"/>
          </a:p>
        </p:txBody>
      </p:sp>
      <p:sp>
        <p:nvSpPr>
          <p:cNvPr id="9" name="Text 6"/>
          <p:cNvSpPr/>
          <p:nvPr/>
        </p:nvSpPr>
        <p:spPr>
          <a:xfrm>
            <a:off x="3175000" y="2087879"/>
            <a:ext cx="147320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Query Agent</a:t>
            </a:r>
            <a:endParaRPr lang="en-US" sz="1400" dirty="0"/>
          </a:p>
        </p:txBody>
      </p:sp>
      <p:sp>
        <p:nvSpPr>
          <p:cNvPr id="10" name="Text 7"/>
          <p:cNvSpPr/>
          <p:nvPr/>
        </p:nvSpPr>
        <p:spPr>
          <a:xfrm>
            <a:off x="3175000" y="2387600"/>
            <a:ext cx="1473200"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5B4A1E"/>
                </a:solidFill>
                <a:latin typeface="IBM Plex Sans" pitchFamily="34" charset="0"/>
                <a:ea typeface="IBM Plex Sans" pitchFamily="34" charset="-122"/>
                <a:cs typeface="IBM Plex Sans" pitchFamily="34" charset="-120"/>
              </a:rPr>
              <a:t>plans the search</a:t>
            </a:r>
            <a:endParaRPr lang="en-US" sz="1200" dirty="0"/>
          </a:p>
        </p:txBody>
      </p:sp>
      <p:pic>
        <p:nvPicPr>
          <p:cNvPr id="11" name="Image 1" descr="arrow-right"/>
          <p:cNvPicPr>
            <a:picLocks noChangeAspect="1"/>
          </p:cNvPicPr>
          <p:nvPr/>
        </p:nvPicPr>
        <p:blipFill>
          <a:blip r:embed="rId5"/>
          <a:srcRect/>
          <a:stretch/>
        </p:blipFill>
        <p:spPr>
          <a:xfrm>
            <a:off x="4851400" y="2260600"/>
            <a:ext cx="279400" cy="152400"/>
          </a:xfrm>
          <a:prstGeom prst="rect">
            <a:avLst/>
          </a:prstGeom>
        </p:spPr>
      </p:pic>
      <p:sp>
        <p:nvSpPr>
          <p:cNvPr id="12" name="Shape 8"/>
          <p:cNvSpPr/>
          <p:nvPr/>
        </p:nvSpPr>
        <p:spPr>
          <a:xfrm>
            <a:off x="5232400" y="1935479"/>
            <a:ext cx="1727200" cy="802640"/>
          </a:xfrm>
          <a:prstGeom prst="roundRect">
            <a:avLst>
              <a:gd name="adj" fmla="val 12658"/>
            </a:avLst>
          </a:prstGeom>
          <a:solidFill>
            <a:srgbClr val="DCFCE7"/>
          </a:solidFill>
          <a:ln/>
        </p:spPr>
        <p:txBody>
          <a:bodyPr/>
          <a:lstStyle/>
          <a:p>
            <a:endParaRPr lang="en-MY"/>
          </a:p>
        </p:txBody>
      </p:sp>
      <p:sp>
        <p:nvSpPr>
          <p:cNvPr id="13" name="Text 9"/>
          <p:cNvSpPr/>
          <p:nvPr/>
        </p:nvSpPr>
        <p:spPr>
          <a:xfrm>
            <a:off x="5384800" y="2087879"/>
            <a:ext cx="147320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Hybrid search</a:t>
            </a:r>
            <a:endParaRPr lang="en-US" sz="1400" dirty="0"/>
          </a:p>
        </p:txBody>
      </p:sp>
      <p:sp>
        <p:nvSpPr>
          <p:cNvPr id="14" name="Text 10"/>
          <p:cNvSpPr/>
          <p:nvPr/>
        </p:nvSpPr>
        <p:spPr>
          <a:xfrm>
            <a:off x="5384800" y="2387600"/>
            <a:ext cx="1574800"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1F4D32"/>
                </a:solidFill>
                <a:latin typeface="IBM Plex Sans" pitchFamily="34" charset="0"/>
                <a:ea typeface="IBM Plex Sans" pitchFamily="34" charset="-122"/>
                <a:cs typeface="IBM Plex Sans" pitchFamily="34" charset="-120"/>
              </a:rPr>
              <a:t>meaning + keywords</a:t>
            </a:r>
            <a:endParaRPr lang="en-US" sz="1200" dirty="0"/>
          </a:p>
        </p:txBody>
      </p:sp>
      <p:pic>
        <p:nvPicPr>
          <p:cNvPr id="15" name="Image 2" descr="arrow-right"/>
          <p:cNvPicPr>
            <a:picLocks noChangeAspect="1"/>
          </p:cNvPicPr>
          <p:nvPr/>
        </p:nvPicPr>
        <p:blipFill>
          <a:blip r:embed="rId5"/>
          <a:srcRect/>
          <a:stretch/>
        </p:blipFill>
        <p:spPr>
          <a:xfrm>
            <a:off x="7061200" y="2260600"/>
            <a:ext cx="279400" cy="152400"/>
          </a:xfrm>
          <a:prstGeom prst="rect">
            <a:avLst/>
          </a:prstGeom>
        </p:spPr>
      </p:pic>
      <p:sp>
        <p:nvSpPr>
          <p:cNvPr id="16" name="Shape 11"/>
          <p:cNvSpPr/>
          <p:nvPr/>
        </p:nvSpPr>
        <p:spPr>
          <a:xfrm>
            <a:off x="7442200" y="1935479"/>
            <a:ext cx="1727200" cy="802640"/>
          </a:xfrm>
          <a:prstGeom prst="roundRect">
            <a:avLst>
              <a:gd name="adj" fmla="val 12658"/>
            </a:avLst>
          </a:prstGeom>
          <a:solidFill>
            <a:srgbClr val="FEF3C7"/>
          </a:solidFill>
          <a:ln/>
        </p:spPr>
        <p:txBody>
          <a:bodyPr/>
          <a:lstStyle/>
          <a:p>
            <a:endParaRPr lang="en-MY"/>
          </a:p>
        </p:txBody>
      </p:sp>
      <p:sp>
        <p:nvSpPr>
          <p:cNvPr id="17" name="Text 12"/>
          <p:cNvSpPr/>
          <p:nvPr/>
        </p:nvSpPr>
        <p:spPr>
          <a:xfrm>
            <a:off x="7594600" y="2087879"/>
            <a:ext cx="147320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Answer Agent</a:t>
            </a:r>
            <a:endParaRPr lang="en-US" sz="1400" dirty="0"/>
          </a:p>
        </p:txBody>
      </p:sp>
      <p:sp>
        <p:nvSpPr>
          <p:cNvPr id="18" name="Text 13"/>
          <p:cNvSpPr/>
          <p:nvPr/>
        </p:nvSpPr>
        <p:spPr>
          <a:xfrm>
            <a:off x="7594600" y="2387600"/>
            <a:ext cx="1473200"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5B4A1E"/>
                </a:solidFill>
                <a:latin typeface="IBM Plex Sans" pitchFamily="34" charset="0"/>
                <a:ea typeface="IBM Plex Sans" pitchFamily="34" charset="-122"/>
                <a:cs typeface="IBM Plex Sans" pitchFamily="34" charset="-120"/>
              </a:rPr>
              <a:t>cites every claim</a:t>
            </a:r>
            <a:endParaRPr lang="en-US" sz="1200" dirty="0"/>
          </a:p>
        </p:txBody>
      </p:sp>
      <p:pic>
        <p:nvPicPr>
          <p:cNvPr id="19" name="Image 3" descr="arrow-right"/>
          <p:cNvPicPr>
            <a:picLocks noChangeAspect="1"/>
          </p:cNvPicPr>
          <p:nvPr/>
        </p:nvPicPr>
        <p:blipFill>
          <a:blip r:embed="rId5"/>
          <a:srcRect/>
          <a:stretch/>
        </p:blipFill>
        <p:spPr>
          <a:xfrm>
            <a:off x="9271000" y="2260600"/>
            <a:ext cx="279400" cy="152400"/>
          </a:xfrm>
          <a:prstGeom prst="rect">
            <a:avLst/>
          </a:prstGeom>
        </p:spPr>
      </p:pic>
      <p:sp>
        <p:nvSpPr>
          <p:cNvPr id="20" name="Shape 14"/>
          <p:cNvSpPr/>
          <p:nvPr/>
        </p:nvSpPr>
        <p:spPr>
          <a:xfrm>
            <a:off x="9652000" y="1935479"/>
            <a:ext cx="1727200" cy="802640"/>
          </a:xfrm>
          <a:prstGeom prst="roundRect">
            <a:avLst>
              <a:gd name="adj" fmla="val 12658"/>
            </a:avLst>
          </a:prstGeom>
          <a:solidFill>
            <a:srgbClr val="FEF3C7"/>
          </a:solidFill>
          <a:ln/>
        </p:spPr>
        <p:txBody>
          <a:bodyPr/>
          <a:lstStyle/>
          <a:p>
            <a:endParaRPr lang="en-MY"/>
          </a:p>
        </p:txBody>
      </p:sp>
      <p:sp>
        <p:nvSpPr>
          <p:cNvPr id="21" name="Text 15"/>
          <p:cNvSpPr/>
          <p:nvPr/>
        </p:nvSpPr>
        <p:spPr>
          <a:xfrm>
            <a:off x="9804400" y="2087879"/>
            <a:ext cx="147320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Evaluator Agent</a:t>
            </a:r>
            <a:endParaRPr lang="en-US" sz="1400" dirty="0"/>
          </a:p>
        </p:txBody>
      </p:sp>
      <p:sp>
        <p:nvSpPr>
          <p:cNvPr id="22" name="Text 16"/>
          <p:cNvSpPr/>
          <p:nvPr/>
        </p:nvSpPr>
        <p:spPr>
          <a:xfrm>
            <a:off x="9804400" y="2387600"/>
            <a:ext cx="1473200"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5B4A1E"/>
                </a:solidFill>
                <a:latin typeface="IBM Plex Sans" pitchFamily="34" charset="0"/>
                <a:ea typeface="IBM Plex Sans" pitchFamily="34" charset="-122"/>
                <a:cs typeface="IBM Plex Sans" pitchFamily="34" charset="-120"/>
              </a:rPr>
              <a:t>checks each claim</a:t>
            </a:r>
            <a:endParaRPr lang="en-US" sz="1200" dirty="0"/>
          </a:p>
        </p:txBody>
      </p:sp>
      <p:sp>
        <p:nvSpPr>
          <p:cNvPr id="23" name="Shape 17"/>
          <p:cNvSpPr/>
          <p:nvPr/>
        </p:nvSpPr>
        <p:spPr>
          <a:xfrm>
            <a:off x="812800" y="3055621"/>
            <a:ext cx="2527300" cy="0"/>
          </a:xfrm>
          <a:prstGeom prst="line">
            <a:avLst/>
          </a:prstGeom>
          <a:noFill/>
          <a:ln w="25400">
            <a:solidFill>
              <a:srgbClr val="4F46E5"/>
            </a:solidFill>
            <a:prstDash val="solid"/>
          </a:ln>
        </p:spPr>
        <p:txBody>
          <a:bodyPr/>
          <a:lstStyle/>
          <a:p>
            <a:endParaRPr lang="en-MY"/>
          </a:p>
        </p:txBody>
      </p:sp>
      <p:sp>
        <p:nvSpPr>
          <p:cNvPr id="24" name="Text 18"/>
          <p:cNvSpPr/>
          <p:nvPr/>
        </p:nvSpPr>
        <p:spPr>
          <a:xfrm>
            <a:off x="812800" y="3195321"/>
            <a:ext cx="2603119" cy="23876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Web app</a:t>
            </a:r>
            <a:endParaRPr lang="en-US" sz="1400" dirty="0"/>
          </a:p>
        </p:txBody>
      </p:sp>
      <p:sp>
        <p:nvSpPr>
          <p:cNvPr id="25" name="Text 19"/>
          <p:cNvSpPr/>
          <p:nvPr/>
        </p:nvSpPr>
        <p:spPr>
          <a:xfrm>
            <a:off x="812800" y="3459479"/>
            <a:ext cx="2603119"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React, with a built-in PDF viewer and admin panel</a:t>
            </a:r>
            <a:endParaRPr lang="en-US" sz="1200" dirty="0"/>
          </a:p>
        </p:txBody>
      </p:sp>
      <p:sp>
        <p:nvSpPr>
          <p:cNvPr id="26" name="Shape 20"/>
          <p:cNvSpPr/>
          <p:nvPr/>
        </p:nvSpPr>
        <p:spPr>
          <a:xfrm>
            <a:off x="3492500" y="3055621"/>
            <a:ext cx="2527300" cy="0"/>
          </a:xfrm>
          <a:prstGeom prst="line">
            <a:avLst/>
          </a:prstGeom>
          <a:noFill/>
          <a:ln w="25400">
            <a:solidFill>
              <a:srgbClr val="4F46E5"/>
            </a:solidFill>
            <a:prstDash val="solid"/>
          </a:ln>
        </p:spPr>
        <p:txBody>
          <a:bodyPr/>
          <a:lstStyle/>
          <a:p>
            <a:endParaRPr lang="en-MY"/>
          </a:p>
        </p:txBody>
      </p:sp>
      <p:sp>
        <p:nvSpPr>
          <p:cNvPr id="27" name="Text 21"/>
          <p:cNvSpPr/>
          <p:nvPr/>
        </p:nvSpPr>
        <p:spPr>
          <a:xfrm>
            <a:off x="3492500" y="3195321"/>
            <a:ext cx="2603119" cy="23876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API</a:t>
            </a:r>
            <a:endParaRPr lang="en-US" sz="1400" dirty="0"/>
          </a:p>
        </p:txBody>
      </p:sp>
      <p:sp>
        <p:nvSpPr>
          <p:cNvPr id="28" name="Text 22"/>
          <p:cNvSpPr/>
          <p:nvPr/>
        </p:nvSpPr>
        <p:spPr>
          <a:xfrm>
            <a:off x="3492500" y="3459479"/>
            <a:ext cx="2603119"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Python FastAPI on Vercel; streams answers</a:t>
            </a:r>
            <a:endParaRPr lang="en-US" sz="1200" dirty="0"/>
          </a:p>
        </p:txBody>
      </p:sp>
      <p:sp>
        <p:nvSpPr>
          <p:cNvPr id="29" name="Shape 23"/>
          <p:cNvSpPr/>
          <p:nvPr/>
        </p:nvSpPr>
        <p:spPr>
          <a:xfrm>
            <a:off x="6172200" y="3055621"/>
            <a:ext cx="2527300" cy="0"/>
          </a:xfrm>
          <a:prstGeom prst="line">
            <a:avLst/>
          </a:prstGeom>
          <a:noFill/>
          <a:ln w="25400">
            <a:solidFill>
              <a:srgbClr val="4F46E5"/>
            </a:solidFill>
            <a:prstDash val="solid"/>
          </a:ln>
        </p:spPr>
        <p:txBody>
          <a:bodyPr/>
          <a:lstStyle/>
          <a:p>
            <a:endParaRPr lang="en-MY"/>
          </a:p>
        </p:txBody>
      </p:sp>
      <p:sp>
        <p:nvSpPr>
          <p:cNvPr id="30" name="Text 24"/>
          <p:cNvSpPr/>
          <p:nvPr/>
        </p:nvSpPr>
        <p:spPr>
          <a:xfrm>
            <a:off x="6172200" y="3195321"/>
            <a:ext cx="2603119" cy="23876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Data</a:t>
            </a:r>
            <a:endParaRPr lang="en-US" sz="1400" dirty="0"/>
          </a:p>
        </p:txBody>
      </p:sp>
      <p:sp>
        <p:nvSpPr>
          <p:cNvPr id="31" name="Text 25"/>
          <p:cNvSpPr/>
          <p:nvPr/>
        </p:nvSpPr>
        <p:spPr>
          <a:xfrm>
            <a:off x="6172200" y="3459479"/>
            <a:ext cx="2603119"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Supabase: Postgres + vector search, Auth, file storage</a:t>
            </a:r>
            <a:endParaRPr lang="en-US" sz="1200" dirty="0"/>
          </a:p>
        </p:txBody>
      </p:sp>
      <p:sp>
        <p:nvSpPr>
          <p:cNvPr id="32" name="Shape 26"/>
          <p:cNvSpPr/>
          <p:nvPr/>
        </p:nvSpPr>
        <p:spPr>
          <a:xfrm>
            <a:off x="8851900" y="3055621"/>
            <a:ext cx="2527300" cy="0"/>
          </a:xfrm>
          <a:prstGeom prst="line">
            <a:avLst/>
          </a:prstGeom>
          <a:noFill/>
          <a:ln w="25400">
            <a:solidFill>
              <a:srgbClr val="4F46E5"/>
            </a:solidFill>
            <a:prstDash val="solid"/>
          </a:ln>
        </p:spPr>
        <p:txBody>
          <a:bodyPr/>
          <a:lstStyle/>
          <a:p>
            <a:endParaRPr lang="en-MY"/>
          </a:p>
        </p:txBody>
      </p:sp>
      <p:sp>
        <p:nvSpPr>
          <p:cNvPr id="33" name="Text 27"/>
          <p:cNvSpPr/>
          <p:nvPr/>
        </p:nvSpPr>
        <p:spPr>
          <a:xfrm>
            <a:off x="8851900" y="3195321"/>
            <a:ext cx="2603119" cy="23876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AI models</a:t>
            </a:r>
            <a:endParaRPr lang="en-US" sz="1400" dirty="0"/>
          </a:p>
        </p:txBody>
      </p:sp>
      <p:sp>
        <p:nvSpPr>
          <p:cNvPr id="34" name="Text 28"/>
          <p:cNvSpPr/>
          <p:nvPr/>
        </p:nvSpPr>
        <p:spPr>
          <a:xfrm>
            <a:off x="8851900" y="3459479"/>
            <a:ext cx="2603119"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DeepSeek for answers and checks; gte-small embeddings</a:t>
            </a:r>
            <a:endParaRPr lang="en-US" sz="1200" dirty="0"/>
          </a:p>
        </p:txBody>
      </p:sp>
      <p:pic>
        <p:nvPicPr>
          <p:cNvPr id="37" name="Audio 36">
            <a:hlinkClick r:id="" action="ppaction://media"/>
            <a:extLst>
              <a:ext uri="{FF2B5EF4-FFF2-40B4-BE49-F238E27FC236}">
                <a16:creationId xmlns:a16="http://schemas.microsoft.com/office/drawing/2014/main" id="{36D85FE4-BCF2-86D0-DD05-4E4264784907}"/>
              </a:ext>
            </a:extLst>
          </p:cNvPr>
          <p:cNvPicPr>
            <a:picLocks noChangeAspect="1"/>
          </p:cNvPicPr>
          <p:nvPr>
            <a:audioFile r:link="rId2"/>
            <p:extLst>
              <p:ext uri="{DAA4B4D4-6D71-4841-9C94-3DE7FCFB9230}">
                <p14:media xmlns:p14="http://schemas.microsoft.com/office/powerpoint/2010/main" r:embed="rId1"/>
              </p:ext>
            </p:extLst>
          </p:nvPr>
        </p:nvPicPr>
        <p:blipFill>
          <a:blip r:embed="rId6"/>
          <a:srcRect l="-118750" t="-118750" r="-118750" b="-118750"/>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34925"/>
    </mc:Choice>
    <mc:Fallback>
      <p:transition spd="slow" advTm="34925"/>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7"/>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37"/>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0F6"/>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4F46E5"/>
                </a:solidFill>
                <a:latin typeface="IBM Plex Sans" pitchFamily="34" charset="0"/>
                <a:ea typeface="IBM Plex Sans" pitchFamily="34" charset="-122"/>
                <a:cs typeface="IBM Plex Sans" pitchFamily="34" charset="-120"/>
              </a:rPr>
              <a:t>ACCESS CONTROL</a:t>
            </a:r>
            <a:endParaRPr lang="en-US" sz="1200" dirty="0"/>
          </a:p>
        </p:txBody>
      </p:sp>
      <p:sp>
        <p:nvSpPr>
          <p:cNvPr id="3" name="Text 1"/>
          <p:cNvSpPr>
            <a:spLocks noGrp="1"/>
          </p:cNvSpPr>
          <p:nvPr>
            <p:ph type="title"/>
          </p:nvPr>
        </p:nvSpPr>
        <p:spPr>
          <a:xfrm>
            <a:off x="812800" y="1127761"/>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Users only see the libraries they're granted</a:t>
            </a:r>
            <a:endParaRPr lang="en-US" sz="3600" dirty="0"/>
          </a:p>
        </p:txBody>
      </p:sp>
      <p:pic>
        <p:nvPicPr>
          <p:cNvPr id="4" name="Image 0" descr="Lock"/>
          <p:cNvPicPr>
            <a:picLocks noChangeAspect="1"/>
          </p:cNvPicPr>
          <p:nvPr/>
        </p:nvPicPr>
        <p:blipFill>
          <a:blip r:embed="rId5"/>
          <a:srcRect/>
          <a:stretch/>
        </p:blipFill>
        <p:spPr>
          <a:xfrm>
            <a:off x="812800" y="1935479"/>
            <a:ext cx="254000" cy="254000"/>
          </a:xfrm>
          <a:prstGeom prst="rect">
            <a:avLst/>
          </a:prstGeom>
        </p:spPr>
      </p:pic>
      <p:sp>
        <p:nvSpPr>
          <p:cNvPr id="5" name="Text 2"/>
          <p:cNvSpPr/>
          <p:nvPr/>
        </p:nvSpPr>
        <p:spPr>
          <a:xfrm>
            <a:off x="1193800" y="1935479"/>
            <a:ext cx="4292600"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14213D"/>
                </a:solidFill>
                <a:latin typeface="IBM Plex Sans" pitchFamily="34" charset="0"/>
                <a:ea typeface="IBM Plex Sans" pitchFamily="34" charset="-122"/>
                <a:cs typeface="IBM Plex Sans" pitchFamily="34" charset="-120"/>
              </a:rPr>
              <a:t>Invite-only sign-in</a:t>
            </a:r>
            <a:r>
              <a:rPr lang="en-US" sz="1500" dirty="0">
                <a:solidFill>
                  <a:srgbClr val="14213D"/>
                </a:solidFill>
                <a:latin typeface="IBM Plex Sans" pitchFamily="34" charset="0"/>
                <a:ea typeface="IBM Plex Sans" pitchFamily="34" charset="-122"/>
                <a:cs typeface="IBM Plex Sans" pitchFamily="34" charset="-120"/>
              </a:rPr>
              <a:t> with admin and user roles</a:t>
            </a:r>
            <a:endParaRPr lang="en-US" sz="1500" dirty="0"/>
          </a:p>
        </p:txBody>
      </p:sp>
      <p:pic>
        <p:nvPicPr>
          <p:cNvPr id="6" name="Image 1" descr="Users"/>
          <p:cNvPicPr>
            <a:picLocks noChangeAspect="1"/>
          </p:cNvPicPr>
          <p:nvPr/>
        </p:nvPicPr>
        <p:blipFill>
          <a:blip r:embed="rId6"/>
          <a:srcRect/>
          <a:stretch/>
        </p:blipFill>
        <p:spPr>
          <a:xfrm>
            <a:off x="812800" y="2345054"/>
            <a:ext cx="254000" cy="254000"/>
          </a:xfrm>
          <a:prstGeom prst="rect">
            <a:avLst/>
          </a:prstGeom>
        </p:spPr>
      </p:pic>
      <p:sp>
        <p:nvSpPr>
          <p:cNvPr id="7" name="Text 3"/>
          <p:cNvSpPr/>
          <p:nvPr/>
        </p:nvSpPr>
        <p:spPr>
          <a:xfrm>
            <a:off x="1193800" y="2345054"/>
            <a:ext cx="4062476"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14213D"/>
                </a:solidFill>
                <a:latin typeface="IBM Plex Sans" pitchFamily="34" charset="0"/>
                <a:ea typeface="IBM Plex Sans" pitchFamily="34" charset="-122"/>
                <a:cs typeface="IBM Plex Sans" pitchFamily="34" charset="-120"/>
              </a:rPr>
              <a:t>Per-user library grants</a:t>
            </a:r>
            <a:r>
              <a:rPr lang="en-US" sz="1500" dirty="0">
                <a:solidFill>
                  <a:srgbClr val="14213D"/>
                </a:solidFill>
                <a:latin typeface="IBM Plex Sans" pitchFamily="34" charset="0"/>
                <a:ea typeface="IBM Plex Sans" pitchFamily="34" charset="-122"/>
                <a:cs typeface="IBM Plex Sans" pitchFamily="34" charset="-120"/>
              </a:rPr>
              <a:t> set by an admin</a:t>
            </a:r>
            <a:endParaRPr lang="en-US" sz="1500" dirty="0"/>
          </a:p>
        </p:txBody>
      </p:sp>
      <p:pic>
        <p:nvPicPr>
          <p:cNvPr id="8" name="Image 2" descr="Database"/>
          <p:cNvPicPr>
            <a:picLocks noChangeAspect="1"/>
          </p:cNvPicPr>
          <p:nvPr/>
        </p:nvPicPr>
        <p:blipFill>
          <a:blip r:embed="rId7"/>
          <a:srcRect t="-56" b="-56"/>
          <a:stretch/>
        </p:blipFill>
        <p:spPr>
          <a:xfrm>
            <a:off x="812800" y="2754629"/>
            <a:ext cx="190288" cy="254000"/>
          </a:xfrm>
          <a:prstGeom prst="rect">
            <a:avLst/>
          </a:prstGeom>
        </p:spPr>
      </p:pic>
      <p:sp>
        <p:nvSpPr>
          <p:cNvPr id="9" name="Text 4"/>
          <p:cNvSpPr/>
          <p:nvPr/>
        </p:nvSpPr>
        <p:spPr>
          <a:xfrm>
            <a:off x="1130088" y="2754629"/>
            <a:ext cx="4120733" cy="539750"/>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14213D"/>
                </a:solidFill>
                <a:latin typeface="IBM Plex Sans" pitchFamily="34" charset="0"/>
                <a:ea typeface="IBM Plex Sans" pitchFamily="34" charset="-122"/>
                <a:cs typeface="IBM Plex Sans" pitchFamily="34" charset="-120"/>
              </a:rPr>
              <a:t>Enforced in the database</a:t>
            </a:r>
            <a:r>
              <a:rPr lang="en-US" sz="1500" dirty="0">
                <a:solidFill>
                  <a:srgbClr val="14213D"/>
                </a:solidFill>
                <a:latin typeface="IBM Plex Sans" pitchFamily="34" charset="0"/>
                <a:ea typeface="IBM Plex Sans" pitchFamily="34" charset="-122"/>
                <a:cs typeface="IBM Plex Sans" pitchFamily="34" charset="-120"/>
              </a:rPr>
              <a:t>, so search can't reach other libraries</a:t>
            </a:r>
            <a:endParaRPr lang="en-US" sz="1500" dirty="0"/>
          </a:p>
        </p:txBody>
      </p:sp>
      <p:pic>
        <p:nvPicPr>
          <p:cNvPr id="10" name="Image 3" descr="Key"/>
          <p:cNvPicPr>
            <a:picLocks noChangeAspect="1"/>
          </p:cNvPicPr>
          <p:nvPr/>
        </p:nvPicPr>
        <p:blipFill>
          <a:blip r:embed="rId8"/>
          <a:srcRect/>
          <a:stretch/>
        </p:blipFill>
        <p:spPr>
          <a:xfrm>
            <a:off x="812800" y="3421379"/>
            <a:ext cx="254000" cy="254000"/>
          </a:xfrm>
          <a:prstGeom prst="rect">
            <a:avLst/>
          </a:prstGeom>
        </p:spPr>
      </p:pic>
      <p:sp>
        <p:nvSpPr>
          <p:cNvPr id="11" name="Text 5"/>
          <p:cNvSpPr/>
          <p:nvPr/>
        </p:nvSpPr>
        <p:spPr>
          <a:xfrm>
            <a:off x="1193800" y="3421379"/>
            <a:ext cx="4292600"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14213D"/>
                </a:solidFill>
                <a:latin typeface="IBM Plex Sans" pitchFamily="34" charset="0"/>
                <a:ea typeface="IBM Plex Sans" pitchFamily="34" charset="-122"/>
                <a:cs typeface="IBM Plex Sans" pitchFamily="34" charset="-120"/>
              </a:rPr>
              <a:t>Private PDFs</a:t>
            </a:r>
            <a:r>
              <a:rPr lang="en-US" sz="1500" dirty="0">
                <a:solidFill>
                  <a:srgbClr val="14213D"/>
                </a:solidFill>
                <a:latin typeface="IBM Plex Sans" pitchFamily="34" charset="0"/>
                <a:ea typeface="IBM Plex Sans" pitchFamily="34" charset="-122"/>
                <a:cs typeface="IBM Plex Sans" pitchFamily="34" charset="-120"/>
              </a:rPr>
              <a:t> served through short-lived links</a:t>
            </a:r>
            <a:endParaRPr lang="en-US" sz="1500" dirty="0"/>
          </a:p>
        </p:txBody>
      </p:sp>
      <p:sp>
        <p:nvSpPr>
          <p:cNvPr id="12" name="Text 6"/>
          <p:cNvSpPr/>
          <p:nvPr/>
        </p:nvSpPr>
        <p:spPr>
          <a:xfrm>
            <a:off x="812800" y="3830954"/>
            <a:ext cx="4318000" cy="408940"/>
          </a:xfrm>
          <a:prstGeom prst="roundRect">
            <a:avLst>
              <a:gd name="adj" fmla="val 18634"/>
            </a:avLst>
          </a:prstGeom>
          <a:solidFill>
            <a:srgbClr val="DCFCE7"/>
          </a:solidFill>
          <a:ln/>
        </p:spPr>
        <p:txBody>
          <a:bodyPr wrap="square" lIns="130082" tIns="66582" rIns="9686" bIns="41182" rtlCol="0" anchor="t">
            <a:normAutofit/>
          </a:bodyPr>
          <a:lstStyle/>
          <a:p>
            <a:pPr marL="0" indent="0" algn="l">
              <a:lnSpc>
                <a:spcPts val="1820"/>
              </a:lnSpc>
              <a:buNone/>
            </a:pPr>
            <a:r>
              <a:rPr lang="en-US" sz="1300" b="1" dirty="0">
                <a:solidFill>
                  <a:srgbClr val="14532D"/>
                </a:solidFill>
                <a:latin typeface="IBM Plex Sans" pitchFamily="34" charset="0"/>
                <a:ea typeface="IBM Plex Sans" pitchFamily="34" charset="-122"/>
                <a:cs typeface="IBM Plex Sans" pitchFamily="34" charset="-120"/>
              </a:rPr>
              <a:t>24 automated security tests pass</a:t>
            </a:r>
            <a:endParaRPr lang="en-US" sz="1300" dirty="0"/>
          </a:p>
        </p:txBody>
      </p:sp>
      <p:sp>
        <p:nvSpPr>
          <p:cNvPr id="13" name="Shape 7"/>
          <p:cNvSpPr/>
          <p:nvPr/>
        </p:nvSpPr>
        <p:spPr>
          <a:xfrm>
            <a:off x="5486400" y="1935479"/>
            <a:ext cx="5892800" cy="2984500"/>
          </a:xfrm>
          <a:prstGeom prst="roundRect">
            <a:avLst>
              <a:gd name="adj" fmla="val 3404"/>
            </a:avLst>
          </a:prstGeom>
          <a:solidFill>
            <a:srgbClr val="FFFFFF"/>
          </a:solidFill>
          <a:ln/>
          <a:effectLst>
            <a:outerShdw blurRad="254000" dist="101600" dir="5400000" algn="bl" rotWithShape="0">
              <a:srgbClr val="14213D">
                <a:alpha val="12000"/>
              </a:srgbClr>
            </a:outerShdw>
          </a:effectLst>
        </p:spPr>
        <p:txBody>
          <a:bodyPr/>
          <a:lstStyle/>
          <a:p>
            <a:endParaRPr lang="en-MY"/>
          </a:p>
        </p:txBody>
      </p:sp>
      <p:pic>
        <p:nvPicPr>
          <p:cNvPr id="14" name="Image 4" descr="Admin user management screen: invite a user, set their role and choose which libraries they can search"/>
          <p:cNvPicPr>
            <a:picLocks noChangeAspect="1"/>
          </p:cNvPicPr>
          <p:nvPr/>
        </p:nvPicPr>
        <p:blipFill>
          <a:blip r:embed="rId9"/>
          <a:srcRect l="-97" r="-97"/>
          <a:stretch/>
        </p:blipFill>
        <p:spPr>
          <a:xfrm>
            <a:off x="5492750" y="1941829"/>
            <a:ext cx="5880100" cy="2971800"/>
          </a:xfrm>
          <a:prstGeom prst="roundRect">
            <a:avLst>
              <a:gd name="adj" fmla="val 3205"/>
            </a:avLst>
          </a:prstGeom>
        </p:spPr>
      </p:pic>
      <p:sp>
        <p:nvSpPr>
          <p:cNvPr id="15" name="Shape 8"/>
          <p:cNvSpPr/>
          <p:nvPr/>
        </p:nvSpPr>
        <p:spPr>
          <a:xfrm>
            <a:off x="5489575" y="1938654"/>
            <a:ext cx="5886450" cy="2978150"/>
          </a:xfrm>
          <a:prstGeom prst="roundRect">
            <a:avLst>
              <a:gd name="adj" fmla="val 3305"/>
            </a:avLst>
          </a:prstGeom>
          <a:noFill/>
          <a:ln w="6350">
            <a:solidFill>
              <a:srgbClr val="D5D9E3"/>
            </a:solidFill>
            <a:prstDash val="solid"/>
          </a:ln>
        </p:spPr>
        <p:txBody>
          <a:bodyPr/>
          <a:lstStyle/>
          <a:p>
            <a:endParaRPr lang="en-MY"/>
          </a:p>
        </p:txBody>
      </p:sp>
      <p:pic>
        <p:nvPicPr>
          <p:cNvPr id="18" name="Audio 17">
            <a:hlinkClick r:id="" action="ppaction://media"/>
            <a:extLst>
              <a:ext uri="{FF2B5EF4-FFF2-40B4-BE49-F238E27FC236}">
                <a16:creationId xmlns:a16="http://schemas.microsoft.com/office/drawing/2014/main" id="{A1DEB866-F2AB-7B79-D915-FAE6C44189B2}"/>
              </a:ext>
            </a:extLst>
          </p:cNvPr>
          <p:cNvPicPr>
            <a:picLocks noChangeAspect="1"/>
          </p:cNvPicPr>
          <p:nvPr>
            <a:audioFile r:link="rId2"/>
            <p:extLst>
              <p:ext uri="{DAA4B4D4-6D71-4841-9C94-3DE7FCFB9230}">
                <p14:media xmlns:p14="http://schemas.microsoft.com/office/powerpoint/2010/main" r:embed="rId1"/>
              </p:ext>
            </p:extLst>
          </p:nvPr>
        </p:nvPicPr>
        <p:blipFill>
          <a:blip r:embed="rId10"/>
          <a:srcRect l="-118750" t="-118750" r="-118750" b="-118750"/>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28588"/>
    </mc:Choice>
    <mc:Fallback>
      <p:transition spd="slow" advTm="28588"/>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8"/>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4F46E5"/>
                </a:solidFill>
                <a:latin typeface="IBM Plex Sans" pitchFamily="34" charset="0"/>
                <a:ea typeface="IBM Plex Sans" pitchFamily="34" charset="-122"/>
                <a:cs typeface="IBM Plex Sans" pitchFamily="34" charset="-120"/>
              </a:rPr>
              <a:t>QUALITY AND EVIDENCE</a:t>
            </a:r>
            <a:endParaRPr lang="en-US" sz="1200" dirty="0"/>
          </a:p>
        </p:txBody>
      </p:sp>
      <p:sp>
        <p:nvSpPr>
          <p:cNvPr id="3" name="Text 1"/>
          <p:cNvSpPr>
            <a:spLocks noGrp="1"/>
          </p:cNvSpPr>
          <p:nvPr>
            <p:ph type="title"/>
          </p:nvPr>
        </p:nvSpPr>
        <p:spPr>
          <a:xfrm>
            <a:off x="812800" y="1127761"/>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Quality is measured, not assumed</a:t>
            </a:r>
            <a:endParaRPr lang="en-US" sz="3600" dirty="0"/>
          </a:p>
        </p:txBody>
      </p:sp>
      <p:sp>
        <p:nvSpPr>
          <p:cNvPr id="4" name="Shape 2"/>
          <p:cNvSpPr/>
          <p:nvPr/>
        </p:nvSpPr>
        <p:spPr>
          <a:xfrm>
            <a:off x="815975" y="1913254"/>
            <a:ext cx="2216150" cy="1258570"/>
          </a:xfrm>
          <a:prstGeom prst="roundRect">
            <a:avLst>
              <a:gd name="adj" fmla="val 7820"/>
            </a:avLst>
          </a:prstGeom>
          <a:solidFill>
            <a:srgbClr val="FFFFFF"/>
          </a:solidFill>
          <a:ln w="6350">
            <a:solidFill>
              <a:srgbClr val="E2E4EA"/>
            </a:solidFill>
            <a:prstDash val="solid"/>
          </a:ln>
        </p:spPr>
        <p:txBody>
          <a:bodyPr/>
          <a:lstStyle/>
          <a:p>
            <a:endParaRPr lang="en-MY"/>
          </a:p>
        </p:txBody>
      </p:sp>
      <p:sp>
        <p:nvSpPr>
          <p:cNvPr id="5" name="Text 3"/>
          <p:cNvSpPr/>
          <p:nvPr/>
        </p:nvSpPr>
        <p:spPr>
          <a:xfrm>
            <a:off x="996950" y="2094229"/>
            <a:ext cx="1909826" cy="47244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4F46E5"/>
                </a:solidFill>
                <a:latin typeface="Source Serif 4" pitchFamily="18" charset="0"/>
                <a:ea typeface="Source Serif 4" pitchFamily="18" charset="-122"/>
                <a:cs typeface="Source Serif 4" pitchFamily="18" charset="-120"/>
              </a:rPr>
              <a:t>530</a:t>
            </a:r>
            <a:endParaRPr lang="en-US" sz="3200" dirty="0"/>
          </a:p>
        </p:txBody>
      </p:sp>
      <p:sp>
        <p:nvSpPr>
          <p:cNvPr id="6" name="Text 4"/>
          <p:cNvSpPr/>
          <p:nvPr/>
        </p:nvSpPr>
        <p:spPr>
          <a:xfrm>
            <a:off x="996950" y="2579371"/>
            <a:ext cx="1909826" cy="4368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report pages indexed in testing</a:t>
            </a:r>
            <a:endParaRPr lang="en-US" sz="1200" dirty="0"/>
          </a:p>
        </p:txBody>
      </p:sp>
      <p:sp>
        <p:nvSpPr>
          <p:cNvPr id="7" name="Shape 5"/>
          <p:cNvSpPr/>
          <p:nvPr/>
        </p:nvSpPr>
        <p:spPr>
          <a:xfrm>
            <a:off x="3165475" y="1913254"/>
            <a:ext cx="2216150" cy="1258570"/>
          </a:xfrm>
          <a:prstGeom prst="roundRect">
            <a:avLst>
              <a:gd name="adj" fmla="val 7820"/>
            </a:avLst>
          </a:prstGeom>
          <a:solidFill>
            <a:srgbClr val="FFFFFF"/>
          </a:solidFill>
          <a:ln w="6350">
            <a:solidFill>
              <a:srgbClr val="E2E4EA"/>
            </a:solidFill>
            <a:prstDash val="solid"/>
          </a:ln>
        </p:spPr>
        <p:txBody>
          <a:bodyPr/>
          <a:lstStyle/>
          <a:p>
            <a:endParaRPr lang="en-MY"/>
          </a:p>
        </p:txBody>
      </p:sp>
      <p:sp>
        <p:nvSpPr>
          <p:cNvPr id="8" name="Text 6"/>
          <p:cNvSpPr/>
          <p:nvPr/>
        </p:nvSpPr>
        <p:spPr>
          <a:xfrm>
            <a:off x="3346450" y="2094229"/>
            <a:ext cx="1909826" cy="47244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4F46E5"/>
                </a:solidFill>
                <a:latin typeface="Source Serif 4" pitchFamily="18" charset="0"/>
                <a:ea typeface="Source Serif 4" pitchFamily="18" charset="-122"/>
                <a:cs typeface="Source Serif 4" pitchFamily="18" charset="-120"/>
              </a:rPr>
              <a:t>100%</a:t>
            </a:r>
            <a:endParaRPr lang="en-US" sz="3200" dirty="0"/>
          </a:p>
        </p:txBody>
      </p:sp>
      <p:sp>
        <p:nvSpPr>
          <p:cNvPr id="9" name="Text 7"/>
          <p:cNvSpPr/>
          <p:nvPr/>
        </p:nvSpPr>
        <p:spPr>
          <a:xfrm>
            <a:off x="3346450" y="2579371"/>
            <a:ext cx="1909826" cy="4368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grounded on the test questions</a:t>
            </a:r>
            <a:endParaRPr lang="en-US" sz="1200" dirty="0"/>
          </a:p>
        </p:txBody>
      </p:sp>
      <p:sp>
        <p:nvSpPr>
          <p:cNvPr id="10" name="Shape 8"/>
          <p:cNvSpPr/>
          <p:nvPr/>
        </p:nvSpPr>
        <p:spPr>
          <a:xfrm>
            <a:off x="815975" y="3305175"/>
            <a:ext cx="2216150" cy="1258570"/>
          </a:xfrm>
          <a:prstGeom prst="roundRect">
            <a:avLst>
              <a:gd name="adj" fmla="val 7820"/>
            </a:avLst>
          </a:prstGeom>
          <a:solidFill>
            <a:srgbClr val="FFFFFF"/>
          </a:solidFill>
          <a:ln w="6350">
            <a:solidFill>
              <a:srgbClr val="E2E4EA"/>
            </a:solidFill>
            <a:prstDash val="solid"/>
          </a:ln>
        </p:spPr>
        <p:txBody>
          <a:bodyPr/>
          <a:lstStyle/>
          <a:p>
            <a:endParaRPr lang="en-MY"/>
          </a:p>
        </p:txBody>
      </p:sp>
      <p:sp>
        <p:nvSpPr>
          <p:cNvPr id="11" name="Text 9"/>
          <p:cNvSpPr/>
          <p:nvPr/>
        </p:nvSpPr>
        <p:spPr>
          <a:xfrm>
            <a:off x="996950" y="3486150"/>
            <a:ext cx="1909826" cy="47244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4F46E5"/>
                </a:solidFill>
                <a:latin typeface="Source Serif 4" pitchFamily="18" charset="0"/>
                <a:ea typeface="Source Serif 4" pitchFamily="18" charset="-122"/>
                <a:cs typeface="Source Serif 4" pitchFamily="18" charset="-120"/>
              </a:rPr>
              <a:t>19–28 s</a:t>
            </a:r>
            <a:endParaRPr lang="en-US" sz="3200" dirty="0"/>
          </a:p>
        </p:txBody>
      </p:sp>
      <p:sp>
        <p:nvSpPr>
          <p:cNvPr id="12" name="Text 10"/>
          <p:cNvSpPr/>
          <p:nvPr/>
        </p:nvSpPr>
        <p:spPr>
          <a:xfrm>
            <a:off x="996950" y="3971289"/>
            <a:ext cx="1909826" cy="4368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per answer, check included</a:t>
            </a:r>
            <a:endParaRPr lang="en-US" sz="1200" dirty="0"/>
          </a:p>
        </p:txBody>
      </p:sp>
      <p:sp>
        <p:nvSpPr>
          <p:cNvPr id="13" name="Shape 11"/>
          <p:cNvSpPr/>
          <p:nvPr/>
        </p:nvSpPr>
        <p:spPr>
          <a:xfrm>
            <a:off x="3165475" y="3305175"/>
            <a:ext cx="2216150" cy="1258570"/>
          </a:xfrm>
          <a:prstGeom prst="roundRect">
            <a:avLst>
              <a:gd name="adj" fmla="val 7820"/>
            </a:avLst>
          </a:prstGeom>
          <a:solidFill>
            <a:srgbClr val="FFFFFF"/>
          </a:solidFill>
          <a:ln w="6350">
            <a:solidFill>
              <a:srgbClr val="E2E4EA"/>
            </a:solidFill>
            <a:prstDash val="solid"/>
          </a:ln>
        </p:spPr>
        <p:txBody>
          <a:bodyPr/>
          <a:lstStyle/>
          <a:p>
            <a:endParaRPr lang="en-MY"/>
          </a:p>
        </p:txBody>
      </p:sp>
      <p:sp>
        <p:nvSpPr>
          <p:cNvPr id="14" name="Text 12"/>
          <p:cNvSpPr/>
          <p:nvPr/>
        </p:nvSpPr>
        <p:spPr>
          <a:xfrm>
            <a:off x="3346450" y="3486150"/>
            <a:ext cx="1909826" cy="47244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4F46E5"/>
                </a:solidFill>
                <a:latin typeface="Source Serif 4" pitchFamily="18" charset="0"/>
                <a:ea typeface="Source Serif 4" pitchFamily="18" charset="-122"/>
                <a:cs typeface="Source Serif 4" pitchFamily="18" charset="-120"/>
              </a:rPr>
              <a:t>&lt; 4¢</a:t>
            </a:r>
            <a:endParaRPr lang="en-US" sz="3200" dirty="0"/>
          </a:p>
        </p:txBody>
      </p:sp>
      <p:sp>
        <p:nvSpPr>
          <p:cNvPr id="15" name="Text 13"/>
          <p:cNvSpPr/>
          <p:nvPr/>
        </p:nvSpPr>
        <p:spPr>
          <a:xfrm>
            <a:off x="3346450" y="3971289"/>
            <a:ext cx="1909826" cy="23114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model cost per question</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753100" y="1922779"/>
          <a:ext cx="5626100" cy="1797050"/>
        </p:xfrm>
        <a:graphic>
          <a:graphicData uri="http://schemas.openxmlformats.org/drawingml/2006/table">
            <a:tbl>
              <a:tblPr/>
              <a:tblGrid>
                <a:gridCol w="3488182">
                  <a:extLst>
                    <a:ext uri="{9D8B030D-6E8A-4147-A177-3AD203B41FA5}">
                      <a16:colId xmlns:a16="http://schemas.microsoft.com/office/drawing/2014/main" val="20000"/>
                    </a:ext>
                  </a:extLst>
                </a:gridCol>
                <a:gridCol w="2137918">
                  <a:extLst>
                    <a:ext uri="{9D8B030D-6E8A-4147-A177-3AD203B41FA5}">
                      <a16:colId xmlns:a16="http://schemas.microsoft.com/office/drawing/2014/main" val="20001"/>
                    </a:ext>
                  </a:extLst>
                </a:gridCol>
              </a:tblGrid>
              <a:tr h="359410">
                <a:tc>
                  <a:txBody>
                    <a:bodyPr/>
                    <a:lstStyle/>
                    <a:p>
                      <a:pPr marL="0" indent="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Offline metric (golden set)</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gn="r">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Target</a:t>
                      </a:r>
                      <a:endParaRPr lang="en-US" sz="1300" dirty="0">
                        <a:latin typeface="IBM Plex Sans" charset="0"/>
                        <a:ea typeface="IBM Plex Sans" charset="0"/>
                        <a:cs typeface="IBM Plex Sans" charset="0"/>
                      </a:endParaRPr>
                    </a:p>
                  </a:txBody>
                  <a:tcPr marL="57785" marR="57785" marT="57785" marB="57785">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359410">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Right pages retrieved (Recall@10)</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 85%</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359410">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Citations support the claim</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 90%</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359410">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Unanswerable questions declined</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 90%</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359410">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Correctness vs. expert answer</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tracked</a:t>
                      </a:r>
                      <a:endParaRPr lang="en-US" sz="1300" dirty="0">
                        <a:latin typeface="IBM Plex Sans" charset="0"/>
                        <a:ea typeface="IBM Plex Sans" charset="0"/>
                        <a:cs typeface="IBM Plex Sans"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7" name="Text 14"/>
          <p:cNvSpPr/>
          <p:nvPr/>
        </p:nvSpPr>
        <p:spPr>
          <a:xfrm>
            <a:off x="5740400" y="3872229"/>
            <a:ext cx="5638800" cy="947420"/>
          </a:xfrm>
          <a:prstGeom prst="roundRect">
            <a:avLst>
              <a:gd name="adj" fmla="val 8043"/>
            </a:avLst>
          </a:prstGeom>
          <a:solidFill>
            <a:srgbClr val="FEF3C7"/>
          </a:solidFill>
          <a:ln/>
        </p:spPr>
        <p:txBody>
          <a:bodyPr wrap="square" lIns="130082" tIns="104682" rIns="0" bIns="79282" rtlCol="0" anchor="t">
            <a:normAutofit/>
          </a:bodyPr>
          <a:lstStyle/>
          <a:p>
            <a:pPr marL="0" indent="0" algn="l">
              <a:lnSpc>
                <a:spcPts val="1820"/>
              </a:lnSpc>
              <a:buNone/>
            </a:pPr>
            <a:r>
              <a:rPr lang="en-US" sz="1300" b="1" dirty="0">
                <a:solidFill>
                  <a:srgbClr val="5B3A06"/>
                </a:solidFill>
                <a:latin typeface="IBM Plex Sans" pitchFamily="34" charset="0"/>
                <a:ea typeface="IBM Plex Sans" pitchFamily="34" charset="-122"/>
                <a:cs typeface="IBM Plex Sans" pitchFamily="34" charset="-120"/>
              </a:rPr>
              <a:t>Found in testing:</a:t>
            </a:r>
            <a:r>
              <a:rPr lang="en-US" sz="1300" dirty="0">
                <a:solidFill>
                  <a:srgbClr val="5B3A06"/>
                </a:solidFill>
                <a:latin typeface="IBM Plex Sans" pitchFamily="34" charset="0"/>
                <a:ea typeface="IBM Plex Sans" pitchFamily="34" charset="-122"/>
                <a:cs typeface="IBM Plex Sans" pitchFamily="34" charset="-120"/>
              </a:rPr>
              <a:t> reference lists can crowd out body text in search. The assistant declined rather than guessing; a fix is planned for week 2 of the client engagement.</a:t>
            </a:r>
            <a:endParaRPr lang="en-US" sz="1300" dirty="0"/>
          </a:p>
        </p:txBody>
      </p:sp>
      <p:pic>
        <p:nvPicPr>
          <p:cNvPr id="20" name="Audio 19">
            <a:hlinkClick r:id="" action="ppaction://media"/>
            <a:extLst>
              <a:ext uri="{FF2B5EF4-FFF2-40B4-BE49-F238E27FC236}">
                <a16:creationId xmlns:a16="http://schemas.microsoft.com/office/drawing/2014/main" id="{40E9F884-526E-1484-0D02-8D8B04AA2DB5}"/>
              </a:ext>
            </a:extLst>
          </p:cNvPr>
          <p:cNvPicPr>
            <a:picLocks noChangeAspect="1"/>
          </p:cNvPicPr>
          <p:nvPr>
            <a:audioFile r:link="rId2"/>
            <p:extLst>
              <p:ext uri="{DAA4B4D4-6D71-4841-9C94-3DE7FCFB9230}">
                <p14:media xmlns:p14="http://schemas.microsoft.com/office/powerpoint/2010/main" r:embed="rId1"/>
              </p:ext>
            </p:extLst>
          </p:nvPr>
        </p:nvPicPr>
        <p:blipFill>
          <a:blip r:embed="rId5"/>
          <a:srcRect l="-118750" t="-118750" r="-118750" b="-118750"/>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46801"/>
    </mc:Choice>
    <mc:Fallback>
      <p:transition spd="slow" advTm="46801"/>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0"/>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5B4FC"/>
                </a:solidFill>
                <a:latin typeface="IBM Plex Sans" pitchFamily="34" charset="0"/>
                <a:ea typeface="IBM Plex Sans" pitchFamily="34" charset="-122"/>
                <a:cs typeface="IBM Plex Sans" pitchFamily="34" charset="-120"/>
              </a:rPr>
              <a:t>NEXT STEP</a:t>
            </a:r>
            <a:endParaRPr lang="en-US" sz="1200" dirty="0"/>
          </a:p>
        </p:txBody>
      </p:sp>
      <p:sp>
        <p:nvSpPr>
          <p:cNvPr id="3" name="Text 1"/>
          <p:cNvSpPr>
            <a:spLocks noGrp="1"/>
          </p:cNvSpPr>
          <p:nvPr>
            <p:ph type="title"/>
          </p:nvPr>
        </p:nvSpPr>
        <p:spPr>
          <a:xfrm>
            <a:off x="812800" y="1127761"/>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F7F6F2"/>
                </a:solidFill>
                <a:latin typeface="Source Serif 4" pitchFamily="18" charset="0"/>
                <a:ea typeface="Source Serif 4" pitchFamily="18" charset="-122"/>
                <a:cs typeface="Source Serif 4" pitchFamily="18" charset="-120"/>
              </a:rPr>
              <a:t>10 weeks, meeting the client every week</a:t>
            </a:r>
            <a:endParaRPr lang="en-US" sz="3600" dirty="0"/>
          </a:p>
        </p:txBody>
      </p:sp>
      <p:sp>
        <p:nvSpPr>
          <p:cNvPr id="4" name="Shape 2"/>
          <p:cNvSpPr/>
          <p:nvPr/>
        </p:nvSpPr>
        <p:spPr>
          <a:xfrm>
            <a:off x="812800" y="1833879"/>
            <a:ext cx="2011680" cy="1221740"/>
          </a:xfrm>
          <a:prstGeom prst="roundRect">
            <a:avLst>
              <a:gd name="adj" fmla="val 8316"/>
            </a:avLst>
          </a:prstGeom>
          <a:solidFill>
            <a:srgbClr val="1E2D4F"/>
          </a:solidFill>
          <a:ln/>
        </p:spPr>
        <p:txBody>
          <a:bodyPr/>
          <a:lstStyle/>
          <a:p>
            <a:endParaRPr lang="en-MY"/>
          </a:p>
        </p:txBody>
      </p:sp>
      <p:sp>
        <p:nvSpPr>
          <p:cNvPr id="5" name="Text 3"/>
          <p:cNvSpPr/>
          <p:nvPr/>
        </p:nvSpPr>
        <p:spPr>
          <a:xfrm>
            <a:off x="965200" y="1986279"/>
            <a:ext cx="175808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A5B4FC"/>
                </a:solidFill>
                <a:latin typeface="IBM Plex Sans" pitchFamily="34" charset="0"/>
                <a:ea typeface="IBM Plex Sans" pitchFamily="34" charset="-122"/>
                <a:cs typeface="IBM Plex Sans" pitchFamily="34" charset="-120"/>
              </a:rPr>
              <a:t>Weeks 1–2</a:t>
            </a:r>
            <a:endParaRPr lang="en-US" sz="1200" dirty="0"/>
          </a:p>
        </p:txBody>
      </p:sp>
      <p:sp>
        <p:nvSpPr>
          <p:cNvPr id="6" name="Text 4"/>
          <p:cNvSpPr/>
          <p:nvPr/>
        </p:nvSpPr>
        <p:spPr>
          <a:xfrm>
            <a:off x="965200" y="2263139"/>
            <a:ext cx="1758086" cy="66548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2E8F0"/>
                </a:solidFill>
                <a:latin typeface="IBM Plex Sans" pitchFamily="34" charset="0"/>
                <a:ea typeface="IBM Plex Sans" pitchFamily="34" charset="-122"/>
                <a:cs typeface="IBM Plex Sans" pitchFamily="34" charset="-120"/>
              </a:rPr>
              <a:t>Kick-off, goals and the client's own reports loaded</a:t>
            </a:r>
            <a:endParaRPr lang="en-US" sz="1200" dirty="0"/>
          </a:p>
        </p:txBody>
      </p:sp>
      <p:sp>
        <p:nvSpPr>
          <p:cNvPr id="7" name="Shape 5"/>
          <p:cNvSpPr/>
          <p:nvPr/>
        </p:nvSpPr>
        <p:spPr>
          <a:xfrm>
            <a:off x="2951480" y="1833879"/>
            <a:ext cx="2011680" cy="1221740"/>
          </a:xfrm>
          <a:prstGeom prst="roundRect">
            <a:avLst>
              <a:gd name="adj" fmla="val 8316"/>
            </a:avLst>
          </a:prstGeom>
          <a:solidFill>
            <a:srgbClr val="1E2D4F"/>
          </a:solidFill>
          <a:ln/>
        </p:spPr>
        <p:txBody>
          <a:bodyPr/>
          <a:lstStyle/>
          <a:p>
            <a:endParaRPr lang="en-MY"/>
          </a:p>
        </p:txBody>
      </p:sp>
      <p:sp>
        <p:nvSpPr>
          <p:cNvPr id="8" name="Text 6"/>
          <p:cNvSpPr/>
          <p:nvPr/>
        </p:nvSpPr>
        <p:spPr>
          <a:xfrm>
            <a:off x="3103880" y="1986279"/>
            <a:ext cx="175808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A5B4FC"/>
                </a:solidFill>
                <a:latin typeface="IBM Plex Sans" pitchFamily="34" charset="0"/>
                <a:ea typeface="IBM Plex Sans" pitchFamily="34" charset="-122"/>
                <a:cs typeface="IBM Plex Sans" pitchFamily="34" charset="-120"/>
              </a:rPr>
              <a:t>Weeks 3–4</a:t>
            </a:r>
            <a:endParaRPr lang="en-US" sz="1200" dirty="0"/>
          </a:p>
        </p:txBody>
      </p:sp>
      <p:sp>
        <p:nvSpPr>
          <p:cNvPr id="9" name="Text 7"/>
          <p:cNvSpPr/>
          <p:nvPr/>
        </p:nvSpPr>
        <p:spPr>
          <a:xfrm>
            <a:off x="3103880" y="2263139"/>
            <a:ext cx="1758086" cy="66548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2E8F0"/>
                </a:solidFill>
                <a:latin typeface="IBM Plex Sans" pitchFamily="34" charset="0"/>
                <a:ea typeface="IBM Plex Sans" pitchFamily="34" charset="-122"/>
                <a:cs typeface="IBM Plex Sans" pitchFamily="34" charset="-120"/>
              </a:rPr>
              <a:t>Test questions agreed, baseline scores, access rules</a:t>
            </a:r>
            <a:endParaRPr lang="en-US" sz="1200" dirty="0"/>
          </a:p>
        </p:txBody>
      </p:sp>
      <p:sp>
        <p:nvSpPr>
          <p:cNvPr id="10" name="Shape 8"/>
          <p:cNvSpPr/>
          <p:nvPr/>
        </p:nvSpPr>
        <p:spPr>
          <a:xfrm>
            <a:off x="5090160" y="1833879"/>
            <a:ext cx="2011680" cy="1221740"/>
          </a:xfrm>
          <a:prstGeom prst="roundRect">
            <a:avLst>
              <a:gd name="adj" fmla="val 8316"/>
            </a:avLst>
          </a:prstGeom>
          <a:solidFill>
            <a:srgbClr val="1E2D4F"/>
          </a:solidFill>
          <a:ln/>
        </p:spPr>
        <p:txBody>
          <a:bodyPr/>
          <a:lstStyle/>
          <a:p>
            <a:endParaRPr lang="en-MY"/>
          </a:p>
        </p:txBody>
      </p:sp>
      <p:sp>
        <p:nvSpPr>
          <p:cNvPr id="11" name="Text 9"/>
          <p:cNvSpPr/>
          <p:nvPr/>
        </p:nvSpPr>
        <p:spPr>
          <a:xfrm>
            <a:off x="5242560" y="1986279"/>
            <a:ext cx="175808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A5B4FC"/>
                </a:solidFill>
                <a:latin typeface="IBM Plex Sans" pitchFamily="34" charset="0"/>
                <a:ea typeface="IBM Plex Sans" pitchFamily="34" charset="-122"/>
                <a:cs typeface="IBM Plex Sans" pitchFamily="34" charset="-120"/>
              </a:rPr>
              <a:t>Weeks 5–6</a:t>
            </a:r>
            <a:endParaRPr lang="en-US" sz="1200" dirty="0"/>
          </a:p>
        </p:txBody>
      </p:sp>
      <p:sp>
        <p:nvSpPr>
          <p:cNvPr id="12" name="Text 10"/>
          <p:cNvSpPr/>
          <p:nvPr/>
        </p:nvSpPr>
        <p:spPr>
          <a:xfrm>
            <a:off x="5242560" y="2263139"/>
            <a:ext cx="1758086"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2E8F0"/>
                </a:solidFill>
                <a:latin typeface="IBM Plex Sans" pitchFamily="34" charset="0"/>
                <a:ea typeface="IBM Plex Sans" pitchFamily="34" charset="-122"/>
                <a:cs typeface="IBM Plex Sans" pitchFamily="34" charset="-120"/>
              </a:rPr>
              <a:t>Users onboarded; timed tasks vs. manual search</a:t>
            </a:r>
            <a:endParaRPr lang="en-US" sz="1200" dirty="0"/>
          </a:p>
        </p:txBody>
      </p:sp>
      <p:sp>
        <p:nvSpPr>
          <p:cNvPr id="13" name="Shape 11"/>
          <p:cNvSpPr/>
          <p:nvPr/>
        </p:nvSpPr>
        <p:spPr>
          <a:xfrm>
            <a:off x="7228840" y="1833879"/>
            <a:ext cx="2011680" cy="1221740"/>
          </a:xfrm>
          <a:prstGeom prst="roundRect">
            <a:avLst>
              <a:gd name="adj" fmla="val 8316"/>
            </a:avLst>
          </a:prstGeom>
          <a:solidFill>
            <a:srgbClr val="1E2D4F"/>
          </a:solidFill>
          <a:ln/>
        </p:spPr>
        <p:txBody>
          <a:bodyPr/>
          <a:lstStyle/>
          <a:p>
            <a:endParaRPr lang="en-MY"/>
          </a:p>
        </p:txBody>
      </p:sp>
      <p:sp>
        <p:nvSpPr>
          <p:cNvPr id="14" name="Text 12"/>
          <p:cNvSpPr/>
          <p:nvPr/>
        </p:nvSpPr>
        <p:spPr>
          <a:xfrm>
            <a:off x="7381240" y="1986279"/>
            <a:ext cx="175808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A5B4FC"/>
                </a:solidFill>
                <a:latin typeface="IBM Plex Sans" pitchFamily="34" charset="0"/>
                <a:ea typeface="IBM Plex Sans" pitchFamily="34" charset="-122"/>
                <a:cs typeface="IBM Plex Sans" pitchFamily="34" charset="-120"/>
              </a:rPr>
              <a:t>Weeks 7–8</a:t>
            </a:r>
            <a:endParaRPr lang="en-US" sz="1200" dirty="0"/>
          </a:p>
        </p:txBody>
      </p:sp>
      <p:sp>
        <p:nvSpPr>
          <p:cNvPr id="15" name="Text 13"/>
          <p:cNvSpPr/>
          <p:nvPr/>
        </p:nvSpPr>
        <p:spPr>
          <a:xfrm>
            <a:off x="7381240" y="2263139"/>
            <a:ext cx="1758086"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2E8F0"/>
                </a:solidFill>
                <a:latin typeface="IBM Plex Sans" pitchFamily="34" charset="0"/>
                <a:ea typeface="IBM Plex Sans" pitchFamily="34" charset="-122"/>
                <a:cs typeface="IBM Plex Sans" pitchFamily="34" charset="-120"/>
              </a:rPr>
              <a:t>Improve from feedback and Insights</a:t>
            </a:r>
            <a:endParaRPr lang="en-US" sz="1200" dirty="0"/>
          </a:p>
        </p:txBody>
      </p:sp>
      <p:sp>
        <p:nvSpPr>
          <p:cNvPr id="16" name="Shape 14"/>
          <p:cNvSpPr/>
          <p:nvPr/>
        </p:nvSpPr>
        <p:spPr>
          <a:xfrm>
            <a:off x="9367520" y="1833879"/>
            <a:ext cx="2011680" cy="1221740"/>
          </a:xfrm>
          <a:prstGeom prst="roundRect">
            <a:avLst>
              <a:gd name="adj" fmla="val 8316"/>
            </a:avLst>
          </a:prstGeom>
          <a:solidFill>
            <a:srgbClr val="1E2D4F"/>
          </a:solidFill>
          <a:ln/>
        </p:spPr>
        <p:txBody>
          <a:bodyPr/>
          <a:lstStyle/>
          <a:p>
            <a:endParaRPr lang="en-MY"/>
          </a:p>
        </p:txBody>
      </p:sp>
      <p:sp>
        <p:nvSpPr>
          <p:cNvPr id="17" name="Text 15"/>
          <p:cNvSpPr/>
          <p:nvPr/>
        </p:nvSpPr>
        <p:spPr>
          <a:xfrm>
            <a:off x="9519920" y="1986279"/>
            <a:ext cx="175808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A5B4FC"/>
                </a:solidFill>
                <a:latin typeface="IBM Plex Sans" pitchFamily="34" charset="0"/>
                <a:ea typeface="IBM Plex Sans" pitchFamily="34" charset="-122"/>
                <a:cs typeface="IBM Plex Sans" pitchFamily="34" charset="-120"/>
              </a:rPr>
              <a:t>Weeks 9–10</a:t>
            </a:r>
            <a:endParaRPr lang="en-US" sz="1200" dirty="0"/>
          </a:p>
        </p:txBody>
      </p:sp>
      <p:sp>
        <p:nvSpPr>
          <p:cNvPr id="18" name="Text 16"/>
          <p:cNvSpPr/>
          <p:nvPr/>
        </p:nvSpPr>
        <p:spPr>
          <a:xfrm>
            <a:off x="9519920" y="2263139"/>
            <a:ext cx="1758086"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2E8F0"/>
                </a:solidFill>
                <a:latin typeface="IBM Plex Sans" pitchFamily="34" charset="0"/>
                <a:ea typeface="IBM Plex Sans" pitchFamily="34" charset="-122"/>
                <a:cs typeface="IBM Plex Sans" pitchFamily="34" charset="-120"/>
              </a:rPr>
              <a:t>Results review and go/no-go decision</a:t>
            </a:r>
            <a:endParaRPr lang="en-US" sz="1200" dirty="0"/>
          </a:p>
        </p:txBody>
      </p:sp>
      <p:sp>
        <p:nvSpPr>
          <p:cNvPr id="19" name="Text 17"/>
          <p:cNvSpPr/>
          <p:nvPr/>
        </p:nvSpPr>
        <p:spPr>
          <a:xfrm>
            <a:off x="812800" y="3258821"/>
            <a:ext cx="10883392"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7F6F2"/>
                </a:solidFill>
                <a:latin typeface="IBM Plex Sans" pitchFamily="34" charset="0"/>
                <a:ea typeface="IBM Plex Sans" pitchFamily="34" charset="-122"/>
                <a:cs typeface="IBM Plex Sans" pitchFamily="34" charset="-120"/>
              </a:rPr>
              <a:t>Every week:</a:t>
            </a:r>
            <a:r>
              <a:rPr lang="en-US" sz="1400" dirty="0">
                <a:solidFill>
                  <a:srgbClr val="C9D1E3"/>
                </a:solidFill>
                <a:latin typeface="IBM Plex Sans" pitchFamily="34" charset="0"/>
                <a:ea typeface="IBM Plex Sans" pitchFamily="34" charset="-122"/>
                <a:cs typeface="IBM Plex Sans" pitchFamily="34" charset="-120"/>
              </a:rPr>
              <a:t> a client meeting to demo progress, review results together and agree the next priorities.</a:t>
            </a:r>
            <a:endParaRPr lang="en-US" sz="1400" dirty="0"/>
          </a:p>
        </p:txBody>
      </p:sp>
      <p:sp>
        <p:nvSpPr>
          <p:cNvPr id="20" name="Text 18"/>
          <p:cNvSpPr/>
          <p:nvPr/>
        </p:nvSpPr>
        <p:spPr>
          <a:xfrm>
            <a:off x="812800" y="3710939"/>
            <a:ext cx="2603119" cy="52324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86EFAC"/>
                </a:solidFill>
                <a:latin typeface="Source Serif 4" pitchFamily="18" charset="0"/>
                <a:ea typeface="Source Serif 4" pitchFamily="18" charset="-122"/>
                <a:cs typeface="Source Serif 4" pitchFamily="18" charset="-120"/>
              </a:rPr>
              <a:t>≥ 50%</a:t>
            </a:r>
            <a:endParaRPr lang="en-US" sz="2800" dirty="0"/>
          </a:p>
        </p:txBody>
      </p:sp>
      <p:sp>
        <p:nvSpPr>
          <p:cNvPr id="21" name="Text 19"/>
          <p:cNvSpPr/>
          <p:nvPr/>
        </p:nvSpPr>
        <p:spPr>
          <a:xfrm>
            <a:off x="812800" y="4234179"/>
            <a:ext cx="2603119"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1E3"/>
                </a:solidFill>
                <a:latin typeface="IBM Plex Sans" pitchFamily="34" charset="0"/>
                <a:ea typeface="IBM Plex Sans" pitchFamily="34" charset="-122"/>
                <a:cs typeface="IBM Plex Sans" pitchFamily="34" charset="-120"/>
              </a:rPr>
              <a:t>faster than manual search</a:t>
            </a:r>
            <a:endParaRPr lang="en-US" sz="1200" dirty="0"/>
          </a:p>
        </p:txBody>
      </p:sp>
      <p:sp>
        <p:nvSpPr>
          <p:cNvPr id="22" name="Text 20"/>
          <p:cNvSpPr/>
          <p:nvPr/>
        </p:nvSpPr>
        <p:spPr>
          <a:xfrm>
            <a:off x="3492500" y="3710939"/>
            <a:ext cx="2603119" cy="52324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86EFAC"/>
                </a:solidFill>
                <a:latin typeface="Source Serif 4" pitchFamily="18" charset="0"/>
                <a:ea typeface="Source Serif 4" pitchFamily="18" charset="-122"/>
                <a:cs typeface="Source Serif 4" pitchFamily="18" charset="-120"/>
              </a:rPr>
              <a:t>≥ 90%</a:t>
            </a:r>
            <a:endParaRPr lang="en-US" sz="2800" dirty="0"/>
          </a:p>
        </p:txBody>
      </p:sp>
      <p:sp>
        <p:nvSpPr>
          <p:cNvPr id="23" name="Text 21"/>
          <p:cNvSpPr/>
          <p:nvPr/>
        </p:nvSpPr>
        <p:spPr>
          <a:xfrm>
            <a:off x="3492500" y="4234179"/>
            <a:ext cx="2603119"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1E3"/>
                </a:solidFill>
                <a:latin typeface="IBM Plex Sans" pitchFamily="34" charset="0"/>
                <a:ea typeface="IBM Plex Sans" pitchFamily="34" charset="-122"/>
                <a:cs typeface="IBM Plex Sans" pitchFamily="34" charset="-120"/>
              </a:rPr>
              <a:t>citation accuracy</a:t>
            </a:r>
            <a:endParaRPr lang="en-US" sz="1200" dirty="0"/>
          </a:p>
        </p:txBody>
      </p:sp>
      <p:sp>
        <p:nvSpPr>
          <p:cNvPr id="24" name="Text 22"/>
          <p:cNvSpPr/>
          <p:nvPr/>
        </p:nvSpPr>
        <p:spPr>
          <a:xfrm>
            <a:off x="6172200" y="3710939"/>
            <a:ext cx="2603119" cy="52324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86EFAC"/>
                </a:solidFill>
                <a:latin typeface="Source Serif 4" pitchFamily="18" charset="0"/>
                <a:ea typeface="Source Serif 4" pitchFamily="18" charset="-122"/>
                <a:cs typeface="Source Serif 4" pitchFamily="18" charset="-120"/>
              </a:rPr>
              <a:t>≥ 85%</a:t>
            </a:r>
            <a:endParaRPr lang="en-US" sz="2800" dirty="0"/>
          </a:p>
        </p:txBody>
      </p:sp>
      <p:sp>
        <p:nvSpPr>
          <p:cNvPr id="25" name="Text 23"/>
          <p:cNvSpPr/>
          <p:nvPr/>
        </p:nvSpPr>
        <p:spPr>
          <a:xfrm>
            <a:off x="6172200" y="4234179"/>
            <a:ext cx="2603119"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1E3"/>
                </a:solidFill>
                <a:latin typeface="IBM Plex Sans" pitchFamily="34" charset="0"/>
                <a:ea typeface="IBM Plex Sans" pitchFamily="34" charset="-122"/>
                <a:cs typeface="IBM Plex Sans" pitchFamily="34" charset="-120"/>
              </a:rPr>
              <a:t>right pages retrieved</a:t>
            </a:r>
            <a:endParaRPr lang="en-US" sz="1200" dirty="0"/>
          </a:p>
        </p:txBody>
      </p:sp>
      <p:sp>
        <p:nvSpPr>
          <p:cNvPr id="26" name="Text 24"/>
          <p:cNvSpPr/>
          <p:nvPr/>
        </p:nvSpPr>
        <p:spPr>
          <a:xfrm>
            <a:off x="8851900" y="3710939"/>
            <a:ext cx="2603119" cy="52324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86EFAC"/>
                </a:solidFill>
                <a:latin typeface="Source Serif 4" pitchFamily="18" charset="0"/>
                <a:ea typeface="Source Serif 4" pitchFamily="18" charset="-122"/>
                <a:cs typeface="Source Serif 4" pitchFamily="18" charset="-120"/>
              </a:rPr>
              <a:t>≥ 70%</a:t>
            </a:r>
            <a:endParaRPr lang="en-US" sz="2800" dirty="0"/>
          </a:p>
        </p:txBody>
      </p:sp>
      <p:sp>
        <p:nvSpPr>
          <p:cNvPr id="27" name="Text 25"/>
          <p:cNvSpPr/>
          <p:nvPr/>
        </p:nvSpPr>
        <p:spPr>
          <a:xfrm>
            <a:off x="8851900" y="4234179"/>
            <a:ext cx="2603119"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1E3"/>
                </a:solidFill>
                <a:latin typeface="IBM Plex Sans" pitchFamily="34" charset="0"/>
                <a:ea typeface="IBM Plex Sans" pitchFamily="34" charset="-122"/>
                <a:cs typeface="IBM Plex Sans" pitchFamily="34" charset="-120"/>
              </a:rPr>
              <a:t>answers rated helpful</a:t>
            </a:r>
            <a:endParaRPr lang="en-US" sz="1200" dirty="0"/>
          </a:p>
        </p:txBody>
      </p:sp>
      <p:sp>
        <p:nvSpPr>
          <p:cNvPr id="28" name="Text 26"/>
          <p:cNvSpPr/>
          <p:nvPr/>
        </p:nvSpPr>
        <p:spPr>
          <a:xfrm>
            <a:off x="812800" y="4650742"/>
            <a:ext cx="10566400" cy="536575"/>
          </a:xfrm>
          <a:prstGeom prst="roundRect">
            <a:avLst>
              <a:gd name="adj" fmla="val 18935"/>
            </a:avLst>
          </a:prstGeom>
          <a:solidFill>
            <a:srgbClr val="C7D2FE"/>
          </a:solidFill>
          <a:ln/>
        </p:spPr>
        <p:txBody>
          <a:bodyPr wrap="square" lIns="173442" tIns="109942" rIns="0" bIns="84542" rtlCol="0" anchor="t">
            <a:normAutofit/>
          </a:bodyPr>
          <a:lstStyle/>
          <a:p>
            <a:pPr marL="0" indent="0" algn="l">
              <a:lnSpc>
                <a:spcPts val="2025"/>
              </a:lnSpc>
              <a:buNone/>
            </a:pPr>
            <a:r>
              <a:rPr lang="en-US" sz="1500" b="1" dirty="0">
                <a:solidFill>
                  <a:srgbClr val="14213D"/>
                </a:solidFill>
                <a:latin typeface="IBM Plex Sans" pitchFamily="34" charset="0"/>
                <a:ea typeface="IBM Plex Sans" pitchFamily="34" charset="-122"/>
                <a:cs typeface="IBM Plex Sans" pitchFamily="34" charset="-120"/>
              </a:rPr>
              <a:t>The ask:</a:t>
            </a:r>
            <a:r>
              <a:rPr lang="en-US" sz="1500" dirty="0">
                <a:solidFill>
                  <a:srgbClr val="14213D"/>
                </a:solidFill>
                <a:latin typeface="IBM Plex Sans" pitchFamily="34" charset="0"/>
                <a:ea typeface="IBM Plex Sans" pitchFamily="34" charset="-122"/>
                <a:cs typeface="IBM Plex Sans" pitchFamily="34" charset="-120"/>
              </a:rPr>
              <a:t> approve a 10-week engagement with weekly client meetings, proving value before any enterprise investment.</a:t>
            </a:r>
            <a:endParaRPr lang="en-US" sz="1500" dirty="0"/>
          </a:p>
        </p:txBody>
      </p:sp>
      <p:pic>
        <p:nvPicPr>
          <p:cNvPr id="35" name="Audio 34">
            <a:hlinkClick r:id="" action="ppaction://media"/>
            <a:extLst>
              <a:ext uri="{FF2B5EF4-FFF2-40B4-BE49-F238E27FC236}">
                <a16:creationId xmlns:a16="http://schemas.microsoft.com/office/drawing/2014/main" id="{E7D03408-2238-A570-D80E-089B5F102B20}"/>
              </a:ext>
            </a:extLst>
          </p:cNvPr>
          <p:cNvPicPr>
            <a:picLocks noChangeAspect="1"/>
          </p:cNvPicPr>
          <p:nvPr>
            <a:audioFile r:link="rId2"/>
            <p:extLst>
              <p:ext uri="{DAA4B4D4-6D71-4841-9C94-3DE7FCFB9230}">
                <p14:media xmlns:p14="http://schemas.microsoft.com/office/powerpoint/2010/main" r:embed="rId1"/>
              </p:ext>
            </p:extLst>
          </p:nvPr>
        </p:nvPicPr>
        <p:blipFill>
          <a:blip r:embed="rId5"/>
          <a:srcRect l="-118750" t="-118750" r="-118750" b="-118750"/>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45951"/>
    </mc:Choice>
    <mc:Fallback>
      <p:transition spd="slow" advTm="45951"/>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35"/>
                </p:tgtEl>
              </p:cMediaNode>
            </p:audio>
          </p:childTnLst>
        </p:cTn>
      </p:par>
    </p:tnLst>
  </p:timing>
</p:sld>
</file>

<file path=ppt/theme/theme1.xml><?xml version="1.0" encoding="utf-8"?>
<a:theme xmlns:a="http://schemas.openxmlformats.org/drawingml/2006/main" name="AI Research Intelligence Assistant">
  <a:themeElements>
    <a:clrScheme name="AI Research Intelligence Assistant">
      <a:dk1>
        <a:srgbClr val="14213D"/>
      </a:dk1>
      <a:lt1>
        <a:srgbClr val="F7F6F2"/>
      </a:lt1>
      <a:dk2>
        <a:srgbClr val="4D566A"/>
      </a:dk2>
      <a:lt2>
        <a:srgbClr val="E0E1E0"/>
      </a:lt2>
      <a:accent1>
        <a:srgbClr val="4F46E5"/>
      </a:accent1>
      <a:accent2>
        <a:srgbClr val="A5B4FC"/>
      </a:accent2>
      <a:accent3>
        <a:srgbClr val="86EFAC"/>
      </a:accent3>
      <a:accent4>
        <a:srgbClr val="FEF3C7"/>
      </a:accent4>
      <a:accent5>
        <a:srgbClr val="5B4A1E"/>
      </a:accent5>
      <a:accent6>
        <a:srgbClr val="C7D2FE"/>
      </a:accent6>
      <a:hlink>
        <a:srgbClr val="0563C1"/>
      </a:hlink>
      <a:folHlink>
        <a:srgbClr val="954F72"/>
      </a:folHlink>
    </a:clrScheme>
    <a:fontScheme name="AI Research Intelligence Assistant">
      <a:majorFont>
        <a:latin typeface="Source Serif 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F4743569-E7F5-4DE5-9C7F-04E61BFE5A8E}">
  <we:reference id="WA200010001" version="1.0.0.1" store="Omex" storeType="OMEX"/>
  <we:alternateReferences>
    <we:reference id="WA200010001" version="1.0.0.1" store="WA200010001" storeType="OMEX"/>
  </we:alternateReferences>
  <we:properties>
    <we:property name="claude.fileId" value="&quot;ac93f0a4-6d39-4d77-99eb-54686d116724&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0A375D6-7E72-4E38-93B1-4AC3C6867318}">
  <we:reference id="WA200010725" version="1.0.0.1" store="Omex" storeType="OMEX"/>
  <we:alternateReferences>
    <we:reference id="WA200010725" version="1.0.0.1" store="WA200010725" storeType="OMEX"/>
  </we:alternateReferences>
  <we:properties>
    <we:property name="claude.fileId" value="&quot;64c938e8-1c97-450a-8451-3a4011a8d5f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12</TotalTime>
  <Words>1276</Words>
  <Application>Microsoft Office PowerPoint</Application>
  <PresentationFormat>Widescreen</PresentationFormat>
  <Paragraphs>109</Paragraphs>
  <Slides>8</Slides>
  <Notes>8</Notes>
  <HiddenSlides>0</HiddenSlides>
  <MMClips>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IBM Plex Sans</vt:lpstr>
      <vt:lpstr>Source Serif 4</vt:lpstr>
      <vt:lpstr>AI Research Intelligence Assistant</vt:lpstr>
      <vt:lpstr>AI Research Intelligence Assistant</vt:lpstr>
      <vt:lpstr>The research is valuable, but it's locked inside PDFs</vt:lpstr>
      <vt:lpstr>Ask the library, get a cited answer</vt:lpstr>
      <vt:lpstr>Every claim links to its page</vt:lpstr>
      <vt:lpstr>Three agents, and every answer is checked</vt:lpstr>
      <vt:lpstr>Users only see the libraries they're granted</vt:lpstr>
      <vt:lpstr>Quality is measured, not assumed</vt:lpstr>
      <vt:lpstr>10 weeks, meeting the client every week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Research Intelligence Assistant</dc:title>
  <dc:subject/>
  <dc:creator/>
  <cp:lastModifiedBy>Aniq Nazhan BIN MAZLAN</cp:lastModifiedBy>
  <cp:revision>2</cp:revision>
  <dcterms:created xsi:type="dcterms:W3CDTF">2026-10-03T12:19:16Z</dcterms:created>
  <dcterms:modified xsi:type="dcterms:W3CDTF">2026-10-03T12:33:17Z</dcterms:modified>
</cp:coreProperties>
</file>